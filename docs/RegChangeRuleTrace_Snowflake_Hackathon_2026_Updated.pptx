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040950-ABA7-449E-BBA1-F07B805739DA}" v="8" dt="2026-10-01T07:41:10.8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EED62AE-B66E-47FC-A954-9A6E9E0DF7A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073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51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765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342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18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297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983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748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903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27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89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69268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2022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4365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0708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7918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2AE-B66E-47FC-A954-9A6E9E0DF7A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595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ED62AE-B66E-47FC-A954-9A6E9E0DF7A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A335B-008E-463A-815B-37A95DF21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3018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snowflake.com/qgsnkwx/md84147/#/streamlit-apps/REGCHANGE_DB.REGCHANGE.REGCHANGE_APP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snowflake.com/qgsnkwx/md84147/#/streamlit-apps/REGCHANGE_DB.REGCHANGE.REGCHANGE_APP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5BA42C-F422-941B-E592-8C544D7B9FF9}"/>
              </a:ext>
            </a:extLst>
          </p:cNvPr>
          <p:cNvSpPr/>
          <p:nvPr/>
        </p:nvSpPr>
        <p:spPr>
          <a:xfrm>
            <a:off x="0" y="0"/>
            <a:ext cx="45719" cy="6858000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111885-1B70-8BE8-59ED-8AE0CF4ABE8E}"/>
              </a:ext>
            </a:extLst>
          </p:cNvPr>
          <p:cNvSpPr txBox="1"/>
          <p:nvPr/>
        </p:nvSpPr>
        <p:spPr>
          <a:xfrm>
            <a:off x="812800" y="812800"/>
            <a:ext cx="10541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 b="1" dirty="0">
                <a:solidFill>
                  <a:srgbClr val="72DDF2"/>
                </a:solidFill>
                <a:latin typeface="Aptos" panose="020B0004020202020204" pitchFamily="34" charset="0"/>
              </a:rPr>
              <a:t>SNOWFLAKE COCO CLI HACKATHON 2026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B39218-8ABB-CF46-0265-309E9F1DA4D7}"/>
              </a:ext>
            </a:extLst>
          </p:cNvPr>
          <p:cNvSpPr txBox="1"/>
          <p:nvPr/>
        </p:nvSpPr>
        <p:spPr>
          <a:xfrm>
            <a:off x="781050" y="1434068"/>
            <a:ext cx="100965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4200" b="1" dirty="0">
                <a:solidFill>
                  <a:srgbClr val="0070C0"/>
                </a:solidFill>
                <a:latin typeface="Aptos" panose="020B0004020202020204" pitchFamily="34" charset="0"/>
              </a:rPr>
              <a:t>RegChange RuleTrace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FFC424-D4EC-3F76-FB65-5DA2F8A25ADF}"/>
              </a:ext>
            </a:extLst>
          </p:cNvPr>
          <p:cNvSpPr txBox="1"/>
          <p:nvPr/>
        </p:nvSpPr>
        <p:spPr>
          <a:xfrm>
            <a:off x="781050" y="2517001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ptos" panose="020B0004020202020204" pitchFamily="34" charset="0"/>
              </a:rPr>
              <a:t>Regulatory Change Impact &amp; Control Intelligence</a:t>
            </a:r>
            <a:endParaRPr lang="en-IN" sz="2400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AC53B0-98D2-F35E-5629-87637D31FDAC}"/>
              </a:ext>
            </a:extLst>
          </p:cNvPr>
          <p:cNvSpPr/>
          <p:nvPr/>
        </p:nvSpPr>
        <p:spPr>
          <a:xfrm>
            <a:off x="812800" y="3927733"/>
            <a:ext cx="1460500" cy="50800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6195ED-EA3E-2A64-75DF-7E3F71E48542}"/>
              </a:ext>
            </a:extLst>
          </p:cNvPr>
          <p:cNvSpPr txBox="1"/>
          <p:nvPr/>
        </p:nvSpPr>
        <p:spPr>
          <a:xfrm>
            <a:off x="781050" y="3508402"/>
            <a:ext cx="9017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Aptos" panose="020B0004020202020204" pitchFamily="34" charset="0"/>
              </a:rPr>
              <a:t>Trace. Analyze. Validate. Govern.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BC2E8F-A790-5A88-2CED-A31E8F59901E}"/>
              </a:ext>
            </a:extLst>
          </p:cNvPr>
          <p:cNvSpPr txBox="1"/>
          <p:nvPr/>
        </p:nvSpPr>
        <p:spPr>
          <a:xfrm>
            <a:off x="812800" y="4759067"/>
            <a:ext cx="9017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Yogesh Wagh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5F4A1C-CDE0-396A-41D9-639AB5AAC75F}"/>
              </a:ext>
            </a:extLst>
          </p:cNvPr>
          <p:cNvSpPr txBox="1"/>
          <p:nvPr/>
        </p:nvSpPr>
        <p:spPr>
          <a:xfrm>
            <a:off x="838200" y="5842000"/>
            <a:ext cx="10160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2000">
                <a:solidFill>
                  <a:srgbClr val="72DDF2"/>
                </a:solidFill>
                <a:latin typeface="Aptos" panose="020B0004020202020204" pitchFamily="34" charset="0"/>
              </a:rPr>
              <a:t>GitHub: github.com/yogeshwagh450/regchange-ruletrace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2EA597-917B-7663-CB1C-66315B72C8DF}"/>
              </a:ext>
            </a:extLst>
          </p:cNvPr>
          <p:cNvSpPr txBox="1"/>
          <p:nvPr/>
        </p:nvSpPr>
        <p:spPr>
          <a:xfrm>
            <a:off x="838200" y="6231467"/>
            <a:ext cx="10160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Prototype: </a:t>
            </a:r>
            <a:r>
              <a:rPr lang="en-IN" sz="2000" dirty="0">
                <a:solidFill>
                  <a:schemeClr val="tx2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Snowflake</a:t>
            </a:r>
            <a:endParaRPr lang="en-IN" sz="2000" dirty="0">
              <a:solidFill>
                <a:schemeClr val="tx2">
                  <a:lumMod val="60000"/>
                  <a:lumOff val="4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388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7711CE-1EDB-8646-4DC1-23E3C05AD71E}"/>
              </a:ext>
            </a:extLst>
          </p:cNvPr>
          <p:cNvSpPr/>
          <p:nvPr/>
        </p:nvSpPr>
        <p:spPr>
          <a:xfrm>
            <a:off x="309032" y="-123111"/>
            <a:ext cx="11882968" cy="3327400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DC8703-8391-64B3-4E41-A03A77A01CD4}"/>
              </a:ext>
            </a:extLst>
          </p:cNvPr>
          <p:cNvSpPr txBox="1"/>
          <p:nvPr/>
        </p:nvSpPr>
        <p:spPr>
          <a:xfrm>
            <a:off x="609600" y="3556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 dirty="0">
                <a:solidFill>
                  <a:srgbClr val="087E9A"/>
                </a:solidFill>
                <a:latin typeface="Aptos" panose="020B0004020202020204" pitchFamily="34" charset="0"/>
              </a:rPr>
              <a:t>REGCHANGE RULETRACE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E33EAF-1B7A-E043-ACED-ACB8A9F66513}"/>
              </a:ext>
            </a:extLst>
          </p:cNvPr>
          <p:cNvSpPr txBox="1"/>
          <p:nvPr/>
        </p:nvSpPr>
        <p:spPr>
          <a:xfrm>
            <a:off x="609600" y="685800"/>
            <a:ext cx="1092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 dirty="0">
                <a:solidFill>
                  <a:srgbClr val="102A43"/>
                </a:solidFill>
                <a:latin typeface="Aptos" panose="020B0004020202020204" pitchFamily="34" charset="0"/>
              </a:rPr>
              <a:t>A threshold change is an operational decision</a:t>
            </a:r>
            <a:endParaRPr lang="en-IN" sz="2800" b="1" dirty="0">
              <a:solidFill>
                <a:srgbClr val="102A43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E13CBA-0E8D-C8D1-38C3-97350EABE465}"/>
              </a:ext>
            </a:extLst>
          </p:cNvPr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D7E1EA"/>
          </a:solidFill>
          <a:ln w="10160">
            <a:solidFill>
              <a:srgbClr val="D7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B3B193-3024-3A22-A76B-EE41D0B7E22B}"/>
              </a:ext>
            </a:extLst>
          </p:cNvPr>
          <p:cNvSpPr txBox="1"/>
          <p:nvPr/>
        </p:nvSpPr>
        <p:spPr>
          <a:xfrm>
            <a:off x="609600" y="65786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>
                <a:solidFill>
                  <a:srgbClr val="64748B"/>
                </a:solidFill>
                <a:latin typeface="Aptos" panose="020B0004020202020204" pitchFamily="34" charset="0"/>
              </a:rPr>
              <a:t>SYNTHETIC HACKATHON DEMO  |  FICTIONAL AML SCENARIO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34B7C2-26DA-13BA-6323-4BC9C9F26BE4}"/>
              </a:ext>
            </a:extLst>
          </p:cNvPr>
          <p:cNvSpPr txBox="1"/>
          <p:nvPr/>
        </p:nvSpPr>
        <p:spPr>
          <a:xfrm>
            <a:off x="11049000" y="65532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900" b="1">
                <a:solidFill>
                  <a:srgbClr val="087E9A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C33801-52A7-A64D-246C-2B129252C6C9}"/>
              </a:ext>
            </a:extLst>
          </p:cNvPr>
          <p:cNvSpPr txBox="1"/>
          <p:nvPr/>
        </p:nvSpPr>
        <p:spPr>
          <a:xfrm>
            <a:off x="609600" y="1397000"/>
            <a:ext cx="107950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>
                <a:solidFill>
                  <a:srgbClr val="425466"/>
                </a:solidFill>
                <a:latin typeface="Aptos" panose="020B0004020202020204" pitchFamily="34" charset="0"/>
              </a:rPr>
              <a:t>A lower monitoring threshold can materially change workload before a rule goes live.</a:t>
            </a:r>
            <a:endParaRPr lang="en-IN" sz="17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C3ABAC2-77B4-37FA-53FD-D0D0C1891288}"/>
              </a:ext>
            </a:extLst>
          </p:cNvPr>
          <p:cNvSpPr/>
          <p:nvPr/>
        </p:nvSpPr>
        <p:spPr>
          <a:xfrm>
            <a:off x="609600" y="2159000"/>
            <a:ext cx="2463800" cy="1397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601A31-B58B-8FB2-7A0B-8A553942256C}"/>
              </a:ext>
            </a:extLst>
          </p:cNvPr>
          <p:cNvSpPr txBox="1"/>
          <p:nvPr/>
        </p:nvSpPr>
        <p:spPr>
          <a:xfrm>
            <a:off x="812800" y="2349500"/>
            <a:ext cx="5334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 b="1">
                <a:solidFill>
                  <a:srgbClr val="087E9A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C2A0F1-578F-5B10-A620-5BDAD4CC5C65}"/>
              </a:ext>
            </a:extLst>
          </p:cNvPr>
          <p:cNvSpPr txBox="1"/>
          <p:nvPr/>
        </p:nvSpPr>
        <p:spPr>
          <a:xfrm>
            <a:off x="812800" y="2743200"/>
            <a:ext cx="21082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600" b="1">
                <a:solidFill>
                  <a:srgbClr val="102A43"/>
                </a:solidFill>
                <a:latin typeface="Aptos" panose="020B0004020202020204" pitchFamily="34" charset="0"/>
              </a:rPr>
              <a:t>Interpret circular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AFD033-C2AC-30CE-8E98-FD24BE130569}"/>
              </a:ext>
            </a:extLst>
          </p:cNvPr>
          <p:cNvSpPr txBox="1"/>
          <p:nvPr/>
        </p:nvSpPr>
        <p:spPr>
          <a:xfrm>
            <a:off x="3111500" y="25781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b="1">
                <a:solidFill>
                  <a:srgbClr val="28B8D8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599F4F0-C291-7356-1BA1-955200E1CD08}"/>
              </a:ext>
            </a:extLst>
          </p:cNvPr>
          <p:cNvSpPr/>
          <p:nvPr/>
        </p:nvSpPr>
        <p:spPr>
          <a:xfrm>
            <a:off x="3378200" y="2159000"/>
            <a:ext cx="2463800" cy="1397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8B5FAC-1965-23EA-19C1-8764852F4886}"/>
              </a:ext>
            </a:extLst>
          </p:cNvPr>
          <p:cNvSpPr txBox="1"/>
          <p:nvPr/>
        </p:nvSpPr>
        <p:spPr>
          <a:xfrm>
            <a:off x="3581400" y="2349500"/>
            <a:ext cx="5334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 b="1">
                <a:solidFill>
                  <a:srgbClr val="087E9A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7CB531-0F0F-EF9F-12A3-48EBB006BC91}"/>
              </a:ext>
            </a:extLst>
          </p:cNvPr>
          <p:cNvSpPr txBox="1"/>
          <p:nvPr/>
        </p:nvSpPr>
        <p:spPr>
          <a:xfrm>
            <a:off x="3581400" y="2743200"/>
            <a:ext cx="21082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600" b="1">
                <a:solidFill>
                  <a:srgbClr val="102A43"/>
                </a:solidFill>
                <a:latin typeface="Aptos" panose="020B0004020202020204" pitchFamily="34" charset="0"/>
              </a:rPr>
              <a:t>Estimate alert impact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903766-DA0F-B260-2B04-CDBB5941EDFD}"/>
              </a:ext>
            </a:extLst>
          </p:cNvPr>
          <p:cNvSpPr txBox="1"/>
          <p:nvPr/>
        </p:nvSpPr>
        <p:spPr>
          <a:xfrm>
            <a:off x="5880100" y="25781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b="1">
                <a:solidFill>
                  <a:srgbClr val="28B8D8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CA2156C-5C1E-5A5C-83C5-BC861C1A491B}"/>
              </a:ext>
            </a:extLst>
          </p:cNvPr>
          <p:cNvSpPr/>
          <p:nvPr/>
        </p:nvSpPr>
        <p:spPr>
          <a:xfrm>
            <a:off x="6146800" y="2159000"/>
            <a:ext cx="2463800" cy="1397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7E6318-6E77-E3C5-0CDF-CB70F768738F}"/>
              </a:ext>
            </a:extLst>
          </p:cNvPr>
          <p:cNvSpPr txBox="1"/>
          <p:nvPr/>
        </p:nvSpPr>
        <p:spPr>
          <a:xfrm>
            <a:off x="6350000" y="2349500"/>
            <a:ext cx="5334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 b="1">
                <a:solidFill>
                  <a:srgbClr val="087E9A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66A1B5-5CCD-5C07-6983-BBD50AE87419}"/>
              </a:ext>
            </a:extLst>
          </p:cNvPr>
          <p:cNvSpPr txBox="1"/>
          <p:nvPr/>
        </p:nvSpPr>
        <p:spPr>
          <a:xfrm>
            <a:off x="6350000" y="2743200"/>
            <a:ext cx="21082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600" b="1">
                <a:solidFill>
                  <a:srgbClr val="102A43"/>
                </a:solidFill>
                <a:latin typeface="Aptos" panose="020B0004020202020204" pitchFamily="34" charset="0"/>
              </a:rPr>
              <a:t>Update ad hoc SQL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233A6D-E55F-CA78-9385-965B520846C8}"/>
              </a:ext>
            </a:extLst>
          </p:cNvPr>
          <p:cNvSpPr txBox="1"/>
          <p:nvPr/>
        </p:nvSpPr>
        <p:spPr>
          <a:xfrm>
            <a:off x="8648700" y="25781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b="1">
                <a:solidFill>
                  <a:srgbClr val="28B8D8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F006F00-0807-AF6C-6138-384D063ED554}"/>
              </a:ext>
            </a:extLst>
          </p:cNvPr>
          <p:cNvSpPr/>
          <p:nvPr/>
        </p:nvSpPr>
        <p:spPr>
          <a:xfrm>
            <a:off x="8915400" y="2159000"/>
            <a:ext cx="2463800" cy="1397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DD84F0-E558-8F17-2BBF-DCA49803E28A}"/>
              </a:ext>
            </a:extLst>
          </p:cNvPr>
          <p:cNvSpPr txBox="1"/>
          <p:nvPr/>
        </p:nvSpPr>
        <p:spPr>
          <a:xfrm>
            <a:off x="9118600" y="2349500"/>
            <a:ext cx="5334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 b="1">
                <a:solidFill>
                  <a:srgbClr val="087E9A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C2AD39-7066-7071-9FC8-C3AE0B9DCD17}"/>
              </a:ext>
            </a:extLst>
          </p:cNvPr>
          <p:cNvSpPr txBox="1"/>
          <p:nvPr/>
        </p:nvSpPr>
        <p:spPr>
          <a:xfrm>
            <a:off x="9118600" y="2743200"/>
            <a:ext cx="21082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600" b="1">
                <a:solidFill>
                  <a:srgbClr val="102A43"/>
                </a:solidFill>
                <a:latin typeface="Aptos" panose="020B0004020202020204" pitchFamily="34" charset="0"/>
              </a:rPr>
              <a:t>Seek approval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C02AFCE-FF81-57AC-72EF-2CE16F7BADF5}"/>
              </a:ext>
            </a:extLst>
          </p:cNvPr>
          <p:cNvSpPr/>
          <p:nvPr/>
        </p:nvSpPr>
        <p:spPr>
          <a:xfrm>
            <a:off x="609600" y="4064000"/>
            <a:ext cx="52070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47C4A9-0AAB-EC3A-DE1B-6A314226D863}"/>
              </a:ext>
            </a:extLst>
          </p:cNvPr>
          <p:cNvSpPr/>
          <p:nvPr/>
        </p:nvSpPr>
        <p:spPr>
          <a:xfrm>
            <a:off x="609600" y="4064000"/>
            <a:ext cx="63500" cy="1676400"/>
          </a:xfrm>
          <a:prstGeom prst="rect">
            <a:avLst/>
          </a:prstGeom>
          <a:solidFill>
            <a:srgbClr val="F0765B"/>
          </a:solidFill>
          <a:ln w="10160">
            <a:solidFill>
              <a:srgbClr val="F076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8A6B5D-97A9-12B2-5233-45F56B7031BA}"/>
              </a:ext>
            </a:extLst>
          </p:cNvPr>
          <p:cNvSpPr txBox="1"/>
          <p:nvPr/>
        </p:nvSpPr>
        <p:spPr>
          <a:xfrm>
            <a:off x="838200" y="4241800"/>
            <a:ext cx="48006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700" b="1">
                <a:solidFill>
                  <a:srgbClr val="102A43"/>
                </a:solidFill>
                <a:latin typeface="Aptos" panose="020B0004020202020204" pitchFamily="34" charset="0"/>
              </a:rPr>
              <a:t>The gap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768DA5-45F1-5C56-6E59-C7E3B3596C61}"/>
              </a:ext>
            </a:extLst>
          </p:cNvPr>
          <p:cNvSpPr txBox="1"/>
          <p:nvPr/>
        </p:nvSpPr>
        <p:spPr>
          <a:xfrm>
            <a:off x="838200" y="4673600"/>
            <a:ext cx="4775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425466"/>
                </a:solidFill>
                <a:latin typeface="Aptos" panose="020B0004020202020204" pitchFamily="34" charset="0"/>
              </a:rPr>
              <a:t>Teams can lack a reproducible before/after replay, a clear view of newly affected accounts, and a decision record tied to evidence.</a:t>
            </a:r>
            <a:endParaRPr lang="en-IN" sz="12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491037D-626E-6B93-A036-A8A34F0EDED5}"/>
              </a:ext>
            </a:extLst>
          </p:cNvPr>
          <p:cNvSpPr/>
          <p:nvPr/>
        </p:nvSpPr>
        <p:spPr>
          <a:xfrm>
            <a:off x="6096000" y="4064000"/>
            <a:ext cx="54864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BA28467-7CBC-2671-1E17-A28A0E853757}"/>
              </a:ext>
            </a:extLst>
          </p:cNvPr>
          <p:cNvSpPr/>
          <p:nvPr/>
        </p:nvSpPr>
        <p:spPr>
          <a:xfrm>
            <a:off x="6096000" y="4064000"/>
            <a:ext cx="63500" cy="1676400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BB8502-F1E3-E0D4-9AC6-C905A75B8CCE}"/>
              </a:ext>
            </a:extLst>
          </p:cNvPr>
          <p:cNvSpPr txBox="1"/>
          <p:nvPr/>
        </p:nvSpPr>
        <p:spPr>
          <a:xfrm>
            <a:off x="6324600" y="4241800"/>
            <a:ext cx="50800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700" b="1">
                <a:solidFill>
                  <a:srgbClr val="102A43"/>
                </a:solidFill>
                <a:latin typeface="Aptos" panose="020B0004020202020204" pitchFamily="34" charset="0"/>
              </a:rPr>
              <a:t>The question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FED59E-57F4-D68D-101A-70C3B8CDBC61}"/>
              </a:ext>
            </a:extLst>
          </p:cNvPr>
          <p:cNvSpPr txBox="1"/>
          <p:nvPr/>
        </p:nvSpPr>
        <p:spPr>
          <a:xfrm>
            <a:off x="6324600" y="4673600"/>
            <a:ext cx="5054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425466"/>
                </a:solidFill>
                <a:latin typeface="Aptos" panose="020B0004020202020204" pitchFamily="34" charset="0"/>
              </a:rPr>
              <a:t>Before changing a control: how many alerts and accounts change, which control is affected, and who approved the proposal?</a:t>
            </a:r>
            <a:endParaRPr lang="en-IN" sz="12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922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0EEA91-A4EA-3C67-F117-D70A234B3A4E}"/>
              </a:ext>
            </a:extLst>
          </p:cNvPr>
          <p:cNvSpPr/>
          <p:nvPr/>
        </p:nvSpPr>
        <p:spPr>
          <a:xfrm>
            <a:off x="0" y="253887"/>
            <a:ext cx="12192000" cy="2611967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6F2041-19C0-F6AF-916D-43362606A94E}"/>
              </a:ext>
            </a:extLst>
          </p:cNvPr>
          <p:cNvSpPr txBox="1"/>
          <p:nvPr/>
        </p:nvSpPr>
        <p:spPr>
          <a:xfrm>
            <a:off x="609600" y="3556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 dirty="0">
                <a:solidFill>
                  <a:srgbClr val="087E9A"/>
                </a:solidFill>
                <a:latin typeface="Aptos" panose="020B0004020202020204" pitchFamily="34" charset="0"/>
              </a:rPr>
              <a:t>REGCHANGE RULETRACE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9826C3-4651-A5F4-F756-0896A0F650EA}"/>
              </a:ext>
            </a:extLst>
          </p:cNvPr>
          <p:cNvSpPr txBox="1"/>
          <p:nvPr/>
        </p:nvSpPr>
        <p:spPr>
          <a:xfrm>
            <a:off x="609600" y="685800"/>
            <a:ext cx="1092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102A43"/>
                </a:solidFill>
                <a:latin typeface="Aptos" panose="020B0004020202020204" pitchFamily="34" charset="0"/>
              </a:rPr>
              <a:t>One governed workflow, five visible stages</a:t>
            </a:r>
            <a:endParaRPr lang="en-IN" sz="2800" b="1">
              <a:solidFill>
                <a:srgbClr val="102A43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5F1BB0-0B80-0FAE-39C1-D031E44A363C}"/>
              </a:ext>
            </a:extLst>
          </p:cNvPr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D7E1EA"/>
          </a:solidFill>
          <a:ln w="10160">
            <a:solidFill>
              <a:srgbClr val="D7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4577F6-5D2E-D3E4-11AE-3DD49730D88B}"/>
              </a:ext>
            </a:extLst>
          </p:cNvPr>
          <p:cNvSpPr txBox="1"/>
          <p:nvPr/>
        </p:nvSpPr>
        <p:spPr>
          <a:xfrm>
            <a:off x="609600" y="65786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>
                <a:solidFill>
                  <a:srgbClr val="64748B"/>
                </a:solidFill>
                <a:latin typeface="Aptos" panose="020B0004020202020204" pitchFamily="34" charset="0"/>
              </a:rPr>
              <a:t>SYNTHETIC HACKATHON DEMO  |  FICTIONAL AML SCENARIO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9A1F0A-77AE-E72C-206F-5F636EAB508E}"/>
              </a:ext>
            </a:extLst>
          </p:cNvPr>
          <p:cNvSpPr txBox="1"/>
          <p:nvPr/>
        </p:nvSpPr>
        <p:spPr>
          <a:xfrm>
            <a:off x="11049000" y="65532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900" b="1" dirty="0">
                <a:solidFill>
                  <a:srgbClr val="087E9A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190FE20-0EE4-FFB1-066C-1BB5A0BB92D5}"/>
              </a:ext>
            </a:extLst>
          </p:cNvPr>
          <p:cNvSpPr/>
          <p:nvPr/>
        </p:nvSpPr>
        <p:spPr>
          <a:xfrm>
            <a:off x="609600" y="1905000"/>
            <a:ext cx="1981200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F1CFC1-5010-D560-56EE-B9A20B74479A}"/>
              </a:ext>
            </a:extLst>
          </p:cNvPr>
          <p:cNvSpPr txBox="1"/>
          <p:nvPr/>
        </p:nvSpPr>
        <p:spPr>
          <a:xfrm>
            <a:off x="787400" y="2133600"/>
            <a:ext cx="1651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087E9A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33EAD3-C338-98E7-5C55-C91C079D140B}"/>
              </a:ext>
            </a:extLst>
          </p:cNvPr>
          <p:cNvSpPr txBox="1"/>
          <p:nvPr/>
        </p:nvSpPr>
        <p:spPr>
          <a:xfrm>
            <a:off x="787400" y="2603500"/>
            <a:ext cx="1651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600" b="1">
                <a:solidFill>
                  <a:srgbClr val="102A43"/>
                </a:solidFill>
                <a:latin typeface="Aptos" panose="020B0004020202020204" pitchFamily="34" charset="0"/>
              </a:rPr>
              <a:t>EXTRACT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794D23-40CB-176F-1F62-B148C116AE2C}"/>
              </a:ext>
            </a:extLst>
          </p:cNvPr>
          <p:cNvSpPr txBox="1"/>
          <p:nvPr/>
        </p:nvSpPr>
        <p:spPr>
          <a:xfrm>
            <a:off x="787400" y="3149600"/>
            <a:ext cx="1651000" cy="5078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425466"/>
                </a:solidFill>
                <a:latin typeface="Aptos" panose="020B0004020202020204" pitchFamily="34" charset="0"/>
              </a:rPr>
              <a:t>Cortex proposes typed fields from fictional policy text.</a:t>
            </a:r>
            <a:endParaRPr lang="en-IN" sz="11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11F6C49-2F5D-66AE-D05F-076B51B3B8D1}"/>
              </a:ext>
            </a:extLst>
          </p:cNvPr>
          <p:cNvSpPr/>
          <p:nvPr/>
        </p:nvSpPr>
        <p:spPr>
          <a:xfrm>
            <a:off x="2857500" y="1905000"/>
            <a:ext cx="1981200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9A0137-AA1C-3D92-1B8E-5A921BCAE0BC}"/>
              </a:ext>
            </a:extLst>
          </p:cNvPr>
          <p:cNvSpPr txBox="1"/>
          <p:nvPr/>
        </p:nvSpPr>
        <p:spPr>
          <a:xfrm>
            <a:off x="3035300" y="2133600"/>
            <a:ext cx="1651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087E9A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6F800B-84E2-69AA-36DE-45DF4EB3D537}"/>
              </a:ext>
            </a:extLst>
          </p:cNvPr>
          <p:cNvSpPr txBox="1"/>
          <p:nvPr/>
        </p:nvSpPr>
        <p:spPr>
          <a:xfrm>
            <a:off x="3035300" y="2603500"/>
            <a:ext cx="1651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600" b="1">
                <a:solidFill>
                  <a:srgbClr val="102A43"/>
                </a:solidFill>
                <a:latin typeface="Aptos" panose="020B0004020202020204" pitchFamily="34" charset="0"/>
              </a:rPr>
              <a:t>MAP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E148EB-762E-66D4-7855-03DD12F87EF7}"/>
              </a:ext>
            </a:extLst>
          </p:cNvPr>
          <p:cNvSpPr txBox="1"/>
          <p:nvPr/>
        </p:nvSpPr>
        <p:spPr>
          <a:xfrm>
            <a:off x="3035300" y="3149600"/>
            <a:ext cx="1651000" cy="5078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425466"/>
                </a:solidFill>
                <a:latin typeface="Aptos" panose="020B0004020202020204" pitchFamily="34" charset="0"/>
              </a:rPr>
              <a:t>Resolve the proposal to AML_THRESHOLD_10L metadata.</a:t>
            </a:r>
            <a:endParaRPr lang="en-IN" sz="11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EB7BC89-772C-03B5-1D9D-D187DA877D9B}"/>
              </a:ext>
            </a:extLst>
          </p:cNvPr>
          <p:cNvSpPr/>
          <p:nvPr/>
        </p:nvSpPr>
        <p:spPr>
          <a:xfrm>
            <a:off x="5105400" y="1905000"/>
            <a:ext cx="1981200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3EEB1D-F2B1-9679-A1C3-4A10FD368FBC}"/>
              </a:ext>
            </a:extLst>
          </p:cNvPr>
          <p:cNvSpPr txBox="1"/>
          <p:nvPr/>
        </p:nvSpPr>
        <p:spPr>
          <a:xfrm>
            <a:off x="5283200" y="2133600"/>
            <a:ext cx="1651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087E9A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1F8B15-A3E8-8666-E173-68AE608B7148}"/>
              </a:ext>
            </a:extLst>
          </p:cNvPr>
          <p:cNvSpPr txBox="1"/>
          <p:nvPr/>
        </p:nvSpPr>
        <p:spPr>
          <a:xfrm>
            <a:off x="5283200" y="2603500"/>
            <a:ext cx="1651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600" b="1">
                <a:solidFill>
                  <a:srgbClr val="102A43"/>
                </a:solidFill>
                <a:latin typeface="Aptos" panose="020B0004020202020204" pitchFamily="34" charset="0"/>
              </a:rPr>
              <a:t>REPLAY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179221-B6A8-636F-4D59-B4115487C49B}"/>
              </a:ext>
            </a:extLst>
          </p:cNvPr>
          <p:cNvSpPr txBox="1"/>
          <p:nvPr/>
        </p:nvSpPr>
        <p:spPr>
          <a:xfrm>
            <a:off x="5283200" y="3149600"/>
            <a:ext cx="1651000" cy="5078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425466"/>
                </a:solidFill>
                <a:latin typeface="Aptos" panose="020B0004020202020204" pitchFamily="34" charset="0"/>
              </a:rPr>
              <a:t>Compare old and proposed thresholds on the same history.</a:t>
            </a:r>
            <a:endParaRPr lang="en-IN" sz="11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9DC573C-6C5D-3A68-4F1D-7FF6A8DA3B2E}"/>
              </a:ext>
            </a:extLst>
          </p:cNvPr>
          <p:cNvSpPr/>
          <p:nvPr/>
        </p:nvSpPr>
        <p:spPr>
          <a:xfrm>
            <a:off x="7353300" y="1905000"/>
            <a:ext cx="1981200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876F94-AC3F-2332-72AF-91AD56CAC945}"/>
              </a:ext>
            </a:extLst>
          </p:cNvPr>
          <p:cNvSpPr txBox="1"/>
          <p:nvPr/>
        </p:nvSpPr>
        <p:spPr>
          <a:xfrm>
            <a:off x="7531100" y="2133600"/>
            <a:ext cx="1651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087E9A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004FD5-6C50-97B6-92AB-739F2344CCAB}"/>
              </a:ext>
            </a:extLst>
          </p:cNvPr>
          <p:cNvSpPr txBox="1"/>
          <p:nvPr/>
        </p:nvSpPr>
        <p:spPr>
          <a:xfrm>
            <a:off x="7531100" y="2603500"/>
            <a:ext cx="1651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600" b="1">
                <a:solidFill>
                  <a:srgbClr val="102A43"/>
                </a:solidFill>
                <a:latin typeface="Aptos" panose="020B0004020202020204" pitchFamily="34" charset="0"/>
              </a:rPr>
              <a:t>QUANTIFY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302425-AC91-5809-4D84-EE2D07500269}"/>
              </a:ext>
            </a:extLst>
          </p:cNvPr>
          <p:cNvSpPr txBox="1"/>
          <p:nvPr/>
        </p:nvSpPr>
        <p:spPr>
          <a:xfrm>
            <a:off x="7531100" y="3149600"/>
            <a:ext cx="16510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425466"/>
                </a:solidFill>
                <a:latin typeface="Aptos" panose="020B0004020202020204" pitchFamily="34" charset="0"/>
              </a:rPr>
              <a:t>Show alert counts, change, and affected accounts.</a:t>
            </a:r>
            <a:endParaRPr lang="en-IN" sz="11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6179D5E-2F63-68EF-3E38-FA30EC28B2E8}"/>
              </a:ext>
            </a:extLst>
          </p:cNvPr>
          <p:cNvSpPr/>
          <p:nvPr/>
        </p:nvSpPr>
        <p:spPr>
          <a:xfrm>
            <a:off x="9601200" y="1905000"/>
            <a:ext cx="1981200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508A87-C7E4-30E4-F1EE-2D36812651CD}"/>
              </a:ext>
            </a:extLst>
          </p:cNvPr>
          <p:cNvSpPr txBox="1"/>
          <p:nvPr/>
        </p:nvSpPr>
        <p:spPr>
          <a:xfrm>
            <a:off x="9779000" y="2133600"/>
            <a:ext cx="1651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087E9A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655BBF-D86A-F741-EAAE-50D1C1AA8F8A}"/>
              </a:ext>
            </a:extLst>
          </p:cNvPr>
          <p:cNvSpPr txBox="1"/>
          <p:nvPr/>
        </p:nvSpPr>
        <p:spPr>
          <a:xfrm>
            <a:off x="9779000" y="2603500"/>
            <a:ext cx="1651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600" b="1">
                <a:solidFill>
                  <a:srgbClr val="102A43"/>
                </a:solidFill>
                <a:latin typeface="Aptos" panose="020B0004020202020204" pitchFamily="34" charset="0"/>
              </a:rPr>
              <a:t>REVIEW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1CFD8E-A304-7573-C2CA-C60B5E8DA7E5}"/>
              </a:ext>
            </a:extLst>
          </p:cNvPr>
          <p:cNvSpPr txBox="1"/>
          <p:nvPr/>
        </p:nvSpPr>
        <p:spPr>
          <a:xfrm>
            <a:off x="9779000" y="3149600"/>
            <a:ext cx="16510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425466"/>
                </a:solidFill>
                <a:latin typeface="Aptos" panose="020B0004020202020204" pitchFamily="34" charset="0"/>
              </a:rPr>
              <a:t>Record approve/reject with a reviewer comment.</a:t>
            </a:r>
            <a:endParaRPr lang="en-IN" sz="11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5C7E89-1F93-7B7D-3107-16DC94D9517B}"/>
              </a:ext>
            </a:extLst>
          </p:cNvPr>
          <p:cNvSpPr txBox="1"/>
          <p:nvPr/>
        </p:nvSpPr>
        <p:spPr>
          <a:xfrm>
            <a:off x="609600" y="4940300"/>
            <a:ext cx="109220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2200" b="1">
                <a:solidFill>
                  <a:srgbClr val="087E9A"/>
                </a:solidFill>
                <a:latin typeface="Aptos" panose="020B0004020202020204" pitchFamily="34" charset="0"/>
              </a:rPr>
              <a:t>AI proposes. Deterministic SQL measures. A human decides.</a:t>
            </a:r>
            <a:endParaRPr lang="en-IN" sz="2200" b="1">
              <a:solidFill>
                <a:srgbClr val="087E9A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F9C0E9-6A36-E710-19EC-EA5D99283B01}"/>
              </a:ext>
            </a:extLst>
          </p:cNvPr>
          <p:cNvSpPr txBox="1"/>
          <p:nvPr/>
        </p:nvSpPr>
        <p:spPr>
          <a:xfrm>
            <a:off x="1498600" y="5562600"/>
            <a:ext cx="9144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200">
                <a:solidFill>
                  <a:srgbClr val="425466"/>
                </a:solidFill>
                <a:latin typeface="Aptos" panose="020B0004020202020204" pitchFamily="34" charset="0"/>
              </a:rPr>
              <a:t>The Streamlit prototype exposes Policy Extraction, Run Backtest, Run History, Review &amp; Approve, and Ask Analyst.</a:t>
            </a:r>
            <a:endParaRPr lang="en-IN" sz="12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860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45F4CB-5E7A-D14D-A5EF-6E0B25FE431B}"/>
              </a:ext>
            </a:extLst>
          </p:cNvPr>
          <p:cNvSpPr/>
          <p:nvPr/>
        </p:nvSpPr>
        <p:spPr>
          <a:xfrm>
            <a:off x="0" y="-1"/>
            <a:ext cx="12192000" cy="3191877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0C23E0-23E7-E8E8-9B96-AB687E6DA960}"/>
              </a:ext>
            </a:extLst>
          </p:cNvPr>
          <p:cNvSpPr txBox="1"/>
          <p:nvPr/>
        </p:nvSpPr>
        <p:spPr>
          <a:xfrm>
            <a:off x="609600" y="3556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 dirty="0">
                <a:solidFill>
                  <a:srgbClr val="087E9A"/>
                </a:solidFill>
                <a:latin typeface="Aptos" panose="020B0004020202020204" pitchFamily="34" charset="0"/>
              </a:rPr>
              <a:t>REGCHANGE RULETRACE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E13956-79C3-D13C-4AF5-4AC9D6D4C3B9}"/>
              </a:ext>
            </a:extLst>
          </p:cNvPr>
          <p:cNvSpPr txBox="1"/>
          <p:nvPr/>
        </p:nvSpPr>
        <p:spPr>
          <a:xfrm>
            <a:off x="609600" y="685800"/>
            <a:ext cx="1092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102A43"/>
                </a:solidFill>
                <a:latin typeface="Aptos" panose="020B0004020202020204" pitchFamily="34" charset="0"/>
              </a:rPr>
              <a:t>A Snowflake-native prototype with explicit boundaries</a:t>
            </a:r>
            <a:endParaRPr lang="en-IN" sz="2800" b="1">
              <a:solidFill>
                <a:srgbClr val="102A43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B23BFF-0632-0BEE-B174-E18EEDF93D24}"/>
              </a:ext>
            </a:extLst>
          </p:cNvPr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D7E1EA"/>
          </a:solidFill>
          <a:ln w="10160">
            <a:solidFill>
              <a:srgbClr val="D7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D516DC-2411-D1CC-46E2-DAEA23864E7E}"/>
              </a:ext>
            </a:extLst>
          </p:cNvPr>
          <p:cNvSpPr txBox="1"/>
          <p:nvPr/>
        </p:nvSpPr>
        <p:spPr>
          <a:xfrm>
            <a:off x="609600" y="65786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>
                <a:solidFill>
                  <a:srgbClr val="64748B"/>
                </a:solidFill>
                <a:latin typeface="Aptos" panose="020B0004020202020204" pitchFamily="34" charset="0"/>
              </a:rPr>
              <a:t>SYNTHETIC HACKATHON DEMO  |  FICTIONAL AML SCENARIO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55413-6176-C003-4669-91ECF366A57D}"/>
              </a:ext>
            </a:extLst>
          </p:cNvPr>
          <p:cNvSpPr txBox="1"/>
          <p:nvPr/>
        </p:nvSpPr>
        <p:spPr>
          <a:xfrm>
            <a:off x="11049000" y="65532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900" b="1">
                <a:solidFill>
                  <a:srgbClr val="087E9A"/>
                </a:solidFill>
                <a:latin typeface="Aptos" panose="020B0004020202020204" pitchFamily="34" charset="0"/>
              </a:rPr>
              <a:t>04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F4A2B7-36B3-29DB-B448-C879BBF073F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51093"/>
            <a:ext cx="7112000" cy="4213013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CCE4543-F9DF-7F0C-23B1-8852E9371761}"/>
              </a:ext>
            </a:extLst>
          </p:cNvPr>
          <p:cNvSpPr/>
          <p:nvPr/>
        </p:nvSpPr>
        <p:spPr>
          <a:xfrm>
            <a:off x="8051800" y="1549400"/>
            <a:ext cx="3530600" cy="1193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7CF830-1E6B-AAF2-3049-E75C1DB47AC5}"/>
              </a:ext>
            </a:extLst>
          </p:cNvPr>
          <p:cNvSpPr/>
          <p:nvPr/>
        </p:nvSpPr>
        <p:spPr>
          <a:xfrm>
            <a:off x="8051800" y="1549400"/>
            <a:ext cx="63500" cy="1193800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7DDFBD-D07B-9038-0102-A5F1FEBC16EE}"/>
              </a:ext>
            </a:extLst>
          </p:cNvPr>
          <p:cNvSpPr txBox="1"/>
          <p:nvPr/>
        </p:nvSpPr>
        <p:spPr>
          <a:xfrm>
            <a:off x="8280400" y="1727200"/>
            <a:ext cx="3124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700" b="1">
                <a:solidFill>
                  <a:srgbClr val="102A43"/>
                </a:solidFill>
                <a:latin typeface="Aptos" panose="020B0004020202020204" pitchFamily="34" charset="0"/>
              </a:rPr>
              <a:t>App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CED2FA-E949-331E-687C-A241EF0CA2EF}"/>
              </a:ext>
            </a:extLst>
          </p:cNvPr>
          <p:cNvSpPr txBox="1"/>
          <p:nvPr/>
        </p:nvSpPr>
        <p:spPr>
          <a:xfrm>
            <a:off x="8280400" y="2159000"/>
            <a:ext cx="30988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 dirty="0">
                <a:solidFill>
                  <a:srgbClr val="425466"/>
                </a:solidFill>
                <a:latin typeface="Aptos" panose="020B0004020202020204" pitchFamily="34" charset="0"/>
              </a:rPr>
              <a:t>Streamlit in Snowflake: REGCHANGE_DB.REGCHANGE.REGCHANGE_APP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E767D55-A685-8C1C-2AF9-ADC55E86461D}"/>
              </a:ext>
            </a:extLst>
          </p:cNvPr>
          <p:cNvSpPr/>
          <p:nvPr/>
        </p:nvSpPr>
        <p:spPr>
          <a:xfrm>
            <a:off x="8051800" y="2921000"/>
            <a:ext cx="3530600" cy="1193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8C122E-C91A-C100-7BE2-ECA04293EE7F}"/>
              </a:ext>
            </a:extLst>
          </p:cNvPr>
          <p:cNvSpPr/>
          <p:nvPr/>
        </p:nvSpPr>
        <p:spPr>
          <a:xfrm>
            <a:off x="8051800" y="2921000"/>
            <a:ext cx="63500" cy="1193800"/>
          </a:xfrm>
          <a:prstGeom prst="rect">
            <a:avLst/>
          </a:prstGeom>
          <a:solidFill>
            <a:srgbClr val="36A37C"/>
          </a:solidFill>
          <a:ln w="10160">
            <a:solidFill>
              <a:srgbClr val="36A3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AE32F0-4B8C-7329-DCF9-7FF59D82FAE0}"/>
              </a:ext>
            </a:extLst>
          </p:cNvPr>
          <p:cNvSpPr txBox="1"/>
          <p:nvPr/>
        </p:nvSpPr>
        <p:spPr>
          <a:xfrm>
            <a:off x="8280400" y="3098800"/>
            <a:ext cx="3124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700" b="1">
                <a:solidFill>
                  <a:srgbClr val="102A43"/>
                </a:solidFill>
                <a:latin typeface="Aptos" panose="020B0004020202020204" pitchFamily="34" charset="0"/>
              </a:rPr>
              <a:t>Data + replay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0FF28F-4D8D-2FF6-42A9-095598B75ED5}"/>
              </a:ext>
            </a:extLst>
          </p:cNvPr>
          <p:cNvSpPr txBox="1"/>
          <p:nvPr/>
        </p:nvSpPr>
        <p:spPr>
          <a:xfrm>
            <a:off x="8280400" y="3530600"/>
            <a:ext cx="30988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425466"/>
                </a:solidFill>
                <a:latin typeface="Aptos" panose="020B0004020202020204" pitchFamily="34" charset="0"/>
              </a:rPr>
              <a:t>REGCHANGE schema, versioned control metadata, synthetic transactions, and RUN_THRESHOLD_BACKTEST.</a:t>
            </a:r>
            <a:endParaRPr lang="en-IN" sz="12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41E14CE-69E5-A8D6-6F49-056CFA3D0A61}"/>
              </a:ext>
            </a:extLst>
          </p:cNvPr>
          <p:cNvSpPr/>
          <p:nvPr/>
        </p:nvSpPr>
        <p:spPr>
          <a:xfrm>
            <a:off x="8051800" y="4292600"/>
            <a:ext cx="3530600" cy="1193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5EFED9-0A9C-A7EF-6706-BF7F5820E585}"/>
              </a:ext>
            </a:extLst>
          </p:cNvPr>
          <p:cNvSpPr/>
          <p:nvPr/>
        </p:nvSpPr>
        <p:spPr>
          <a:xfrm>
            <a:off x="8051800" y="4292600"/>
            <a:ext cx="63500" cy="1193800"/>
          </a:xfrm>
          <a:prstGeom prst="rect">
            <a:avLst/>
          </a:prstGeom>
          <a:solidFill>
            <a:srgbClr val="F0A34A"/>
          </a:solidFill>
          <a:ln w="10160">
            <a:solidFill>
              <a:srgbClr val="F0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2B966F-2393-02D1-9893-6346E8E06DA1}"/>
              </a:ext>
            </a:extLst>
          </p:cNvPr>
          <p:cNvSpPr txBox="1"/>
          <p:nvPr/>
        </p:nvSpPr>
        <p:spPr>
          <a:xfrm>
            <a:off x="8280400" y="4470400"/>
            <a:ext cx="3124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700" b="1">
                <a:solidFill>
                  <a:srgbClr val="102A43"/>
                </a:solidFill>
                <a:latin typeface="Aptos" panose="020B0004020202020204" pitchFamily="34" charset="0"/>
              </a:rPr>
              <a:t>AI + governance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BA8C4B-7090-A39D-481D-BB2DAB048790}"/>
              </a:ext>
            </a:extLst>
          </p:cNvPr>
          <p:cNvSpPr txBox="1"/>
          <p:nvPr/>
        </p:nvSpPr>
        <p:spPr>
          <a:xfrm>
            <a:off x="8280400" y="4902200"/>
            <a:ext cx="3098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425466"/>
                </a:solidFill>
                <a:latin typeface="Aptos" panose="020B0004020202020204" pitchFamily="34" charset="0"/>
              </a:rPr>
              <a:t>Cortex extraction and Cortex Analyst over a Semantic View; review is logged separately.</a:t>
            </a:r>
            <a:endParaRPr lang="en-IN" sz="12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CF1E3C-E25C-3B03-E472-51CAAE3B80B4}"/>
              </a:ext>
            </a:extLst>
          </p:cNvPr>
          <p:cNvSpPr txBox="1"/>
          <p:nvPr/>
        </p:nvSpPr>
        <p:spPr>
          <a:xfrm>
            <a:off x="609600" y="5969000"/>
            <a:ext cx="10795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>
                <a:solidFill>
                  <a:srgbClr val="425466"/>
                </a:solidFill>
                <a:latin typeface="Aptos" panose="020B0004020202020204" pitchFamily="34" charset="0"/>
              </a:rPr>
              <a:t>The threshold comparison is typed and deterministic; descriptive rule text is not executed as SQL.</a:t>
            </a:r>
            <a:endParaRPr lang="en-IN" sz="11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453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4A0C21-4A4E-983C-BD66-D3B5E7C2A9C1}"/>
              </a:ext>
            </a:extLst>
          </p:cNvPr>
          <p:cNvSpPr/>
          <p:nvPr/>
        </p:nvSpPr>
        <p:spPr>
          <a:xfrm>
            <a:off x="0" y="0"/>
            <a:ext cx="12192000" cy="3111500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90D8D4-8017-D6E3-3065-05DD7D6F9A1D}"/>
              </a:ext>
            </a:extLst>
          </p:cNvPr>
          <p:cNvSpPr txBox="1"/>
          <p:nvPr/>
        </p:nvSpPr>
        <p:spPr>
          <a:xfrm>
            <a:off x="609600" y="3556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 dirty="0">
                <a:solidFill>
                  <a:srgbClr val="087E9A"/>
                </a:solidFill>
                <a:latin typeface="Aptos" panose="020B0004020202020204" pitchFamily="34" charset="0"/>
              </a:rPr>
              <a:t>REGCHANGE RULETRACE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A8FEBD-9250-466A-D8DE-46DCB2FF36CF}"/>
              </a:ext>
            </a:extLst>
          </p:cNvPr>
          <p:cNvSpPr txBox="1"/>
          <p:nvPr/>
        </p:nvSpPr>
        <p:spPr>
          <a:xfrm>
            <a:off x="609600" y="685800"/>
            <a:ext cx="1092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102A43"/>
                </a:solidFill>
                <a:latin typeface="Aptos" panose="020B0004020202020204" pitchFamily="34" charset="0"/>
              </a:rPr>
              <a:t>Policy extraction is a proposal, not a policy decision</a:t>
            </a:r>
            <a:endParaRPr lang="en-IN" sz="2800" b="1">
              <a:solidFill>
                <a:srgbClr val="102A43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92E184-F3B5-57BE-FF28-394CE5BD88DD}"/>
              </a:ext>
            </a:extLst>
          </p:cNvPr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D7E1EA"/>
          </a:solidFill>
          <a:ln w="10160">
            <a:solidFill>
              <a:srgbClr val="D7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659C42-C26A-A063-CCBC-E33896A6BBC1}"/>
              </a:ext>
            </a:extLst>
          </p:cNvPr>
          <p:cNvSpPr txBox="1"/>
          <p:nvPr/>
        </p:nvSpPr>
        <p:spPr>
          <a:xfrm>
            <a:off x="609600" y="65786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>
                <a:solidFill>
                  <a:srgbClr val="64748B"/>
                </a:solidFill>
                <a:latin typeface="Aptos" panose="020B0004020202020204" pitchFamily="34" charset="0"/>
              </a:rPr>
              <a:t>SYNTHETIC HACKATHON DEMO  |  FICTIONAL AML SCENARIO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E7AA65-6628-816E-5FAB-00D835D88008}"/>
              </a:ext>
            </a:extLst>
          </p:cNvPr>
          <p:cNvSpPr txBox="1"/>
          <p:nvPr/>
        </p:nvSpPr>
        <p:spPr>
          <a:xfrm>
            <a:off x="11049000" y="65532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900" b="1">
                <a:solidFill>
                  <a:srgbClr val="087E9A"/>
                </a:solidFill>
                <a:latin typeface="Aptos" panose="020B0004020202020204" pitchFamily="34" charset="0"/>
              </a:rPr>
              <a:t>05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B394B2-7D92-4A26-6779-0C6E3D7B3AD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21095"/>
            <a:ext cx="6921500" cy="35460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5B900D9-6A48-4BA8-84F4-733FC915F9E8}"/>
              </a:ext>
            </a:extLst>
          </p:cNvPr>
          <p:cNvSpPr txBox="1"/>
          <p:nvPr/>
        </p:nvSpPr>
        <p:spPr>
          <a:xfrm>
            <a:off x="7937500" y="1600200"/>
            <a:ext cx="36322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087E9A"/>
                </a:solidFill>
                <a:latin typeface="Aptos" panose="020B0004020202020204" pitchFamily="34" charset="0"/>
              </a:rPr>
              <a:t>FICTIONAL SAMPLE CIRCULAR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5144B1-5FF3-B626-ABCA-449A4D3A6636}"/>
              </a:ext>
            </a:extLst>
          </p:cNvPr>
          <p:cNvSpPr txBox="1"/>
          <p:nvPr/>
        </p:nvSpPr>
        <p:spPr>
          <a:xfrm>
            <a:off x="7937500" y="2082800"/>
            <a:ext cx="3632200" cy="73866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2400" b="1">
                <a:solidFill>
                  <a:srgbClr val="102A43"/>
                </a:solidFill>
                <a:latin typeface="Aptos" panose="020B0004020202020204" pitchFamily="34" charset="0"/>
              </a:rPr>
              <a:t>INR 1,000,000  -&gt;  INR 500,000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08BD32-A164-DF3A-546A-0BD709CA861E}"/>
              </a:ext>
            </a:extLst>
          </p:cNvPr>
          <p:cNvSpPr txBox="1"/>
          <p:nvPr/>
        </p:nvSpPr>
        <p:spPr>
          <a:xfrm>
            <a:off x="7937500" y="3632200"/>
            <a:ext cx="3556000" cy="80021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425466"/>
                </a:solidFill>
                <a:latin typeface="Aptos" panose="020B0004020202020204" pitchFamily="34" charset="0"/>
              </a:rPr>
              <a:t>Cortex extracts the rule, parameter, proposed threshold, currency, effective date, and summary. The UI offers extracted values for review before backtesting.</a:t>
            </a:r>
            <a:endParaRPr lang="en-IN" sz="13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8C9CEF2-234C-4ABA-0E6C-D7893CC91B2A}"/>
              </a:ext>
            </a:extLst>
          </p:cNvPr>
          <p:cNvSpPr/>
          <p:nvPr/>
        </p:nvSpPr>
        <p:spPr>
          <a:xfrm>
            <a:off x="7937500" y="5257800"/>
            <a:ext cx="3632200" cy="558800"/>
          </a:xfrm>
          <a:prstGeom prst="roundRect">
            <a:avLst/>
          </a:prstGeom>
          <a:solidFill>
            <a:srgbClr val="FFF2E8"/>
          </a:solidFill>
          <a:ln w="10160">
            <a:solidFill>
              <a:srgbClr val="F4C9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EB8F4E-8A10-67D9-2944-A3A4DBDA7103}"/>
              </a:ext>
            </a:extLst>
          </p:cNvPr>
          <p:cNvSpPr txBox="1"/>
          <p:nvPr/>
        </p:nvSpPr>
        <p:spPr>
          <a:xfrm>
            <a:off x="8102600" y="5384800"/>
            <a:ext cx="33274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 b="1">
                <a:solidFill>
                  <a:srgbClr val="8B4B12"/>
                </a:solidFill>
                <a:latin typeface="Aptos" panose="020B0004020202020204" pitchFamily="34" charset="0"/>
              </a:rPr>
              <a:t>Reviewer verifies before use.</a:t>
            </a:r>
          </a:p>
        </p:txBody>
      </p:sp>
    </p:spTree>
    <p:extLst>
      <p:ext uri="{BB962C8B-B14F-4D97-AF65-F5344CB8AC3E}">
        <p14:creationId xmlns:p14="http://schemas.microsoft.com/office/powerpoint/2010/main" val="3519717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540384-4A45-383B-8E16-C29CB2B35C19}"/>
              </a:ext>
            </a:extLst>
          </p:cNvPr>
          <p:cNvSpPr/>
          <p:nvPr/>
        </p:nvSpPr>
        <p:spPr>
          <a:xfrm>
            <a:off x="0" y="-1"/>
            <a:ext cx="12192000" cy="3070999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88C2A8-8FF6-AE7D-D07A-A9B5EFBEE189}"/>
              </a:ext>
            </a:extLst>
          </p:cNvPr>
          <p:cNvSpPr txBox="1"/>
          <p:nvPr/>
        </p:nvSpPr>
        <p:spPr>
          <a:xfrm>
            <a:off x="609600" y="3556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 dirty="0">
                <a:solidFill>
                  <a:srgbClr val="087E9A"/>
                </a:solidFill>
                <a:latin typeface="Aptos" panose="020B0004020202020204" pitchFamily="34" charset="0"/>
              </a:rPr>
              <a:t>REGCHANGE RULETRACE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A33999-BFF8-F314-56E1-E6A4CCEB7E73}"/>
              </a:ext>
            </a:extLst>
          </p:cNvPr>
          <p:cNvSpPr txBox="1"/>
          <p:nvPr/>
        </p:nvSpPr>
        <p:spPr>
          <a:xfrm>
            <a:off x="609600" y="685800"/>
            <a:ext cx="1092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102A43"/>
                </a:solidFill>
                <a:latin typeface="Aptos" panose="020B0004020202020204" pitchFamily="34" charset="0"/>
              </a:rPr>
              <a:t>Replay the same history under both thresholds</a:t>
            </a:r>
            <a:endParaRPr lang="en-IN" sz="2800" b="1">
              <a:solidFill>
                <a:srgbClr val="102A43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CB830F-E585-8234-EAD6-E499959AC05F}"/>
              </a:ext>
            </a:extLst>
          </p:cNvPr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D7E1EA"/>
          </a:solidFill>
          <a:ln w="10160">
            <a:solidFill>
              <a:srgbClr val="D7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6A22DA-E4DC-4D5E-0F02-57D68D7D4E3D}"/>
              </a:ext>
            </a:extLst>
          </p:cNvPr>
          <p:cNvSpPr txBox="1"/>
          <p:nvPr/>
        </p:nvSpPr>
        <p:spPr>
          <a:xfrm>
            <a:off x="609600" y="65786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>
                <a:solidFill>
                  <a:srgbClr val="64748B"/>
                </a:solidFill>
                <a:latin typeface="Aptos" panose="020B0004020202020204" pitchFamily="34" charset="0"/>
              </a:rPr>
              <a:t>SYNTHETIC HACKATHON DEMO  |  FICTIONAL AML SCENARIO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4162E6-9D86-2177-497A-ADC518C6E9CD}"/>
              </a:ext>
            </a:extLst>
          </p:cNvPr>
          <p:cNvSpPr txBox="1"/>
          <p:nvPr/>
        </p:nvSpPr>
        <p:spPr>
          <a:xfrm>
            <a:off x="11049000" y="65532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900" b="1">
                <a:solidFill>
                  <a:srgbClr val="087E9A"/>
                </a:solidFill>
                <a:latin typeface="Aptos" panose="020B0004020202020204" pitchFamily="34" charset="0"/>
              </a:rPr>
              <a:t>06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E49754-697D-49B1-45B2-84E8F408B69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04825"/>
            <a:ext cx="7048500" cy="36039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C56983-8F72-0021-EAEF-369324CC03E5}"/>
              </a:ext>
            </a:extLst>
          </p:cNvPr>
          <p:cNvSpPr txBox="1"/>
          <p:nvPr/>
        </p:nvSpPr>
        <p:spPr>
          <a:xfrm>
            <a:off x="8064500" y="1600200"/>
            <a:ext cx="34925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>
                <a:solidFill>
                  <a:srgbClr val="087E9A"/>
                </a:solidFill>
                <a:latin typeface="Aptos" panose="020B0004020202020204" pitchFamily="34" charset="0"/>
              </a:rPr>
              <a:t>ILLUSTRATIVE EXPECTED OUTPUT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8AFC9EA-2C5E-D589-A793-F36C2D0E0C7E}"/>
              </a:ext>
            </a:extLst>
          </p:cNvPr>
          <p:cNvSpPr/>
          <p:nvPr/>
        </p:nvSpPr>
        <p:spPr>
          <a:xfrm>
            <a:off x="8064500" y="2082800"/>
            <a:ext cx="1676400" cy="863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804FD1-FC17-F377-DDD2-A67FAACA0F73}"/>
              </a:ext>
            </a:extLst>
          </p:cNvPr>
          <p:cNvSpPr txBox="1"/>
          <p:nvPr/>
        </p:nvSpPr>
        <p:spPr>
          <a:xfrm>
            <a:off x="8191500" y="2184400"/>
            <a:ext cx="1460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b="1">
                <a:solidFill>
                  <a:srgbClr val="102A43"/>
                </a:solidFill>
                <a:latin typeface="Aptos" panose="020B0004020202020204" pitchFamily="34" charset="0"/>
              </a:rPr>
              <a:t>132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4DF932-A067-60CD-A8D9-51E38A94479A}"/>
              </a:ext>
            </a:extLst>
          </p:cNvPr>
          <p:cNvSpPr txBox="1"/>
          <p:nvPr/>
        </p:nvSpPr>
        <p:spPr>
          <a:xfrm>
            <a:off x="8191500" y="2603500"/>
            <a:ext cx="14478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>
                <a:solidFill>
                  <a:srgbClr val="425466"/>
                </a:solidFill>
                <a:latin typeface="Aptos" panose="020B0004020202020204" pitchFamily="34" charset="0"/>
              </a:rPr>
              <a:t>Baseline alerts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36BF45D-8A31-79B0-E68E-E9768FAC6B0A}"/>
              </a:ext>
            </a:extLst>
          </p:cNvPr>
          <p:cNvSpPr/>
          <p:nvPr/>
        </p:nvSpPr>
        <p:spPr>
          <a:xfrm>
            <a:off x="9880600" y="2082800"/>
            <a:ext cx="1676400" cy="863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D70A7A-1773-E46C-8386-C872E6970924}"/>
              </a:ext>
            </a:extLst>
          </p:cNvPr>
          <p:cNvSpPr txBox="1"/>
          <p:nvPr/>
        </p:nvSpPr>
        <p:spPr>
          <a:xfrm>
            <a:off x="10007600" y="2184400"/>
            <a:ext cx="1460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b="1">
                <a:solidFill>
                  <a:srgbClr val="102A43"/>
                </a:solidFill>
                <a:latin typeface="Aptos" panose="020B0004020202020204" pitchFamily="34" charset="0"/>
              </a:rPr>
              <a:t>200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AF85F1-AE20-6732-E0C7-313C1C50F738}"/>
              </a:ext>
            </a:extLst>
          </p:cNvPr>
          <p:cNvSpPr txBox="1"/>
          <p:nvPr/>
        </p:nvSpPr>
        <p:spPr>
          <a:xfrm>
            <a:off x="10007600" y="2603500"/>
            <a:ext cx="14478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>
                <a:solidFill>
                  <a:srgbClr val="425466"/>
                </a:solidFill>
                <a:latin typeface="Aptos" panose="020B0004020202020204" pitchFamily="34" charset="0"/>
              </a:rPr>
              <a:t>Proposed alerts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4213689-7BB6-5B05-6586-154911E91EF7}"/>
              </a:ext>
            </a:extLst>
          </p:cNvPr>
          <p:cNvSpPr/>
          <p:nvPr/>
        </p:nvSpPr>
        <p:spPr>
          <a:xfrm>
            <a:off x="8064500" y="3136900"/>
            <a:ext cx="1676400" cy="863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DD861D-BCAC-05CD-718D-45FE3D409679}"/>
              </a:ext>
            </a:extLst>
          </p:cNvPr>
          <p:cNvSpPr txBox="1"/>
          <p:nvPr/>
        </p:nvSpPr>
        <p:spPr>
          <a:xfrm>
            <a:off x="8191500" y="3238500"/>
            <a:ext cx="1460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b="1">
                <a:solidFill>
                  <a:srgbClr val="102A43"/>
                </a:solidFill>
                <a:latin typeface="Aptos" panose="020B0004020202020204" pitchFamily="34" charset="0"/>
              </a:rPr>
              <a:t>+68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F1D12D-466E-67ED-BC09-B0EB4A99C6A8}"/>
              </a:ext>
            </a:extLst>
          </p:cNvPr>
          <p:cNvSpPr txBox="1"/>
          <p:nvPr/>
        </p:nvSpPr>
        <p:spPr>
          <a:xfrm>
            <a:off x="8191500" y="3657600"/>
            <a:ext cx="14478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>
                <a:solidFill>
                  <a:srgbClr val="425466"/>
                </a:solidFill>
                <a:latin typeface="Aptos" panose="020B0004020202020204" pitchFamily="34" charset="0"/>
              </a:rPr>
              <a:t>Alert delta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73AFE2A-88C0-EFE6-8E03-3322863991A8}"/>
              </a:ext>
            </a:extLst>
          </p:cNvPr>
          <p:cNvSpPr/>
          <p:nvPr/>
        </p:nvSpPr>
        <p:spPr>
          <a:xfrm>
            <a:off x="9880600" y="3136900"/>
            <a:ext cx="1676400" cy="863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1E9948-6F73-2BD9-4EEB-D73FD9C79F8C}"/>
              </a:ext>
            </a:extLst>
          </p:cNvPr>
          <p:cNvSpPr txBox="1"/>
          <p:nvPr/>
        </p:nvSpPr>
        <p:spPr>
          <a:xfrm>
            <a:off x="10007600" y="3238500"/>
            <a:ext cx="1460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b="1">
                <a:solidFill>
                  <a:srgbClr val="102A43"/>
                </a:solidFill>
                <a:latin typeface="Aptos" panose="020B0004020202020204" pitchFamily="34" charset="0"/>
              </a:rPr>
              <a:t>+51.52%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D0D34B-61DB-7E85-14B6-2C0A83291BA8}"/>
              </a:ext>
            </a:extLst>
          </p:cNvPr>
          <p:cNvSpPr txBox="1"/>
          <p:nvPr/>
        </p:nvSpPr>
        <p:spPr>
          <a:xfrm>
            <a:off x="10007600" y="3657600"/>
            <a:ext cx="14478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>
                <a:solidFill>
                  <a:srgbClr val="425466"/>
                </a:solidFill>
                <a:latin typeface="Aptos" panose="020B0004020202020204" pitchFamily="34" charset="0"/>
              </a:rPr>
              <a:t>Relative increase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77CFDC1-3619-8E31-13FD-63D0460E7A02}"/>
              </a:ext>
            </a:extLst>
          </p:cNvPr>
          <p:cNvSpPr/>
          <p:nvPr/>
        </p:nvSpPr>
        <p:spPr>
          <a:xfrm>
            <a:off x="8064500" y="4191000"/>
            <a:ext cx="1676400" cy="863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617C07-09D9-5F93-DB37-E503530A7945}"/>
              </a:ext>
            </a:extLst>
          </p:cNvPr>
          <p:cNvSpPr txBox="1"/>
          <p:nvPr/>
        </p:nvSpPr>
        <p:spPr>
          <a:xfrm>
            <a:off x="8191500" y="4292600"/>
            <a:ext cx="1460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b="1">
                <a:solidFill>
                  <a:srgbClr val="102A43"/>
                </a:solidFill>
                <a:latin typeface="Aptos" panose="020B0004020202020204" pitchFamily="34" charset="0"/>
              </a:rPr>
              <a:t>50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B6F7D8-0148-C538-6D66-6CF90A1B1646}"/>
              </a:ext>
            </a:extLst>
          </p:cNvPr>
          <p:cNvSpPr txBox="1"/>
          <p:nvPr/>
        </p:nvSpPr>
        <p:spPr>
          <a:xfrm>
            <a:off x="8191500" y="47117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>
                <a:solidFill>
                  <a:srgbClr val="425466"/>
                </a:solidFill>
                <a:latin typeface="Aptos" panose="020B0004020202020204" pitchFamily="34" charset="0"/>
              </a:rPr>
              <a:t>Accounts under proposed rule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5A29E01-D699-025B-8515-F5CB3CA6D580}"/>
              </a:ext>
            </a:extLst>
          </p:cNvPr>
          <p:cNvSpPr/>
          <p:nvPr/>
        </p:nvSpPr>
        <p:spPr>
          <a:xfrm>
            <a:off x="9880600" y="4191000"/>
            <a:ext cx="1676400" cy="863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06A410-3D1D-0D08-6FEB-1883E512D9EF}"/>
              </a:ext>
            </a:extLst>
          </p:cNvPr>
          <p:cNvSpPr txBox="1"/>
          <p:nvPr/>
        </p:nvSpPr>
        <p:spPr>
          <a:xfrm>
            <a:off x="10007600" y="4292600"/>
            <a:ext cx="1460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b="1">
                <a:solidFill>
                  <a:srgbClr val="102A43"/>
                </a:solidFill>
                <a:latin typeface="Aptos" panose="020B0004020202020204" pitchFamily="34" charset="0"/>
              </a:rPr>
              <a:t>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4D5468-4AFE-ED93-AEAF-AB784FBA3964}"/>
              </a:ext>
            </a:extLst>
          </p:cNvPr>
          <p:cNvSpPr txBox="1"/>
          <p:nvPr/>
        </p:nvSpPr>
        <p:spPr>
          <a:xfrm>
            <a:off x="10007600" y="4711700"/>
            <a:ext cx="14478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>
                <a:solidFill>
                  <a:srgbClr val="425466"/>
                </a:solidFill>
                <a:latin typeface="Aptos" panose="020B0004020202020204" pitchFamily="34" charset="0"/>
              </a:rPr>
              <a:t>Newly alerted accounts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45514A-388A-C1B1-3CAD-DB308D43069B}"/>
              </a:ext>
            </a:extLst>
          </p:cNvPr>
          <p:cNvSpPr txBox="1"/>
          <p:nvPr/>
        </p:nvSpPr>
        <p:spPr>
          <a:xfrm>
            <a:off x="8064500" y="5346700"/>
            <a:ext cx="35306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>
                <a:solidFill>
                  <a:srgbClr val="8B4B12"/>
                </a:solidFill>
                <a:latin typeface="Aptos" panose="020B0004020202020204" pitchFamily="34" charset="0"/>
              </a:rPr>
              <a:t>Smoke-test targets for the unmodified synthetic dataset. Confirm against the live Snowflake run before presenting as measured results.</a:t>
            </a:r>
            <a:endParaRPr lang="en-IN" sz="1000">
              <a:solidFill>
                <a:srgbClr val="8B4B1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757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896DF8-F8C5-F1F1-9408-ECC1989DA5D7}"/>
              </a:ext>
            </a:extLst>
          </p:cNvPr>
          <p:cNvSpPr/>
          <p:nvPr/>
        </p:nvSpPr>
        <p:spPr>
          <a:xfrm>
            <a:off x="0" y="0"/>
            <a:ext cx="12192000" cy="3378200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C77D89-8704-F3C2-17F1-F7A4F617E5FC}"/>
              </a:ext>
            </a:extLst>
          </p:cNvPr>
          <p:cNvSpPr txBox="1"/>
          <p:nvPr/>
        </p:nvSpPr>
        <p:spPr>
          <a:xfrm>
            <a:off x="609600" y="3556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 dirty="0">
                <a:solidFill>
                  <a:srgbClr val="087E9A"/>
                </a:solidFill>
                <a:latin typeface="Aptos" panose="020B0004020202020204" pitchFamily="34" charset="0"/>
              </a:rPr>
              <a:t>REGCHANGE RULETRACE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83559E-DD4D-CD1D-A1EF-FA036CAD6119}"/>
              </a:ext>
            </a:extLst>
          </p:cNvPr>
          <p:cNvSpPr txBox="1"/>
          <p:nvPr/>
        </p:nvSpPr>
        <p:spPr>
          <a:xfrm>
            <a:off x="609600" y="685800"/>
            <a:ext cx="1092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102A43"/>
                </a:solidFill>
                <a:latin typeface="Aptos" panose="020B0004020202020204" pitchFamily="34" charset="0"/>
              </a:rPr>
              <a:t>Review is recorded; control promotion stays separate</a:t>
            </a:r>
            <a:endParaRPr lang="en-IN" sz="2800" b="1">
              <a:solidFill>
                <a:srgbClr val="102A43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F684E5-8582-15AF-1993-2206ABD4E7D2}"/>
              </a:ext>
            </a:extLst>
          </p:cNvPr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D7E1EA"/>
          </a:solidFill>
          <a:ln w="10160">
            <a:solidFill>
              <a:srgbClr val="D7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FAF402-B562-D0C0-199F-718F5549748C}"/>
              </a:ext>
            </a:extLst>
          </p:cNvPr>
          <p:cNvSpPr txBox="1"/>
          <p:nvPr/>
        </p:nvSpPr>
        <p:spPr>
          <a:xfrm>
            <a:off x="609600" y="65786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>
                <a:solidFill>
                  <a:srgbClr val="64748B"/>
                </a:solidFill>
                <a:latin typeface="Aptos" panose="020B0004020202020204" pitchFamily="34" charset="0"/>
              </a:rPr>
              <a:t>SYNTHETIC HACKATHON DEMO  |  FICTIONAL AML SCENARIO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8E1C6-7130-3AAB-0593-EF295D292B64}"/>
              </a:ext>
            </a:extLst>
          </p:cNvPr>
          <p:cNvSpPr txBox="1"/>
          <p:nvPr/>
        </p:nvSpPr>
        <p:spPr>
          <a:xfrm>
            <a:off x="11049000" y="65532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900" b="1">
                <a:solidFill>
                  <a:srgbClr val="087E9A"/>
                </a:solidFill>
                <a:latin typeface="Aptos" panose="020B0004020202020204" pitchFamily="34" charset="0"/>
              </a:rPr>
              <a:t>07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81950C-1D35-D7B0-9557-0E51487641F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99842"/>
            <a:ext cx="7048500" cy="3613916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82E4289-89A4-6CED-CA4F-85DD073E65DE}"/>
              </a:ext>
            </a:extLst>
          </p:cNvPr>
          <p:cNvSpPr/>
          <p:nvPr/>
        </p:nvSpPr>
        <p:spPr>
          <a:xfrm>
            <a:off x="8051800" y="1676400"/>
            <a:ext cx="3530600" cy="1295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5F9B8-BBE6-68F9-1760-E786AB1113C6}"/>
              </a:ext>
            </a:extLst>
          </p:cNvPr>
          <p:cNvSpPr/>
          <p:nvPr/>
        </p:nvSpPr>
        <p:spPr>
          <a:xfrm>
            <a:off x="8051800" y="1676400"/>
            <a:ext cx="63500" cy="1295400"/>
          </a:xfrm>
          <a:prstGeom prst="rect">
            <a:avLst/>
          </a:prstGeom>
          <a:solidFill>
            <a:srgbClr val="36A37C"/>
          </a:solidFill>
          <a:ln w="10160">
            <a:solidFill>
              <a:srgbClr val="36A3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B08B72-36C2-563E-0A37-335FF93E4245}"/>
              </a:ext>
            </a:extLst>
          </p:cNvPr>
          <p:cNvSpPr txBox="1"/>
          <p:nvPr/>
        </p:nvSpPr>
        <p:spPr>
          <a:xfrm>
            <a:off x="8280400" y="1854200"/>
            <a:ext cx="3124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700" b="1">
                <a:solidFill>
                  <a:srgbClr val="102A43"/>
                </a:solidFill>
                <a:latin typeface="Aptos" panose="020B0004020202020204" pitchFamily="34" charset="0"/>
              </a:rPr>
              <a:t>Decision record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2D5878-1530-148C-EE0C-708C2FDE5FFC}"/>
              </a:ext>
            </a:extLst>
          </p:cNvPr>
          <p:cNvSpPr txBox="1"/>
          <p:nvPr/>
        </p:nvSpPr>
        <p:spPr>
          <a:xfrm>
            <a:off x="8280400" y="2286000"/>
            <a:ext cx="30988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425466"/>
                </a:solidFill>
                <a:latin typeface="Aptos" panose="020B0004020202020204" pitchFamily="34" charset="0"/>
              </a:rPr>
              <a:t>Reviewer, approve/reject decision, comment, run ID, and review timestamp are written to REVIEW_LOG.</a:t>
            </a:r>
            <a:endParaRPr lang="en-IN" sz="12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688B93A-DA87-0474-F5A3-A3E00DB46361}"/>
              </a:ext>
            </a:extLst>
          </p:cNvPr>
          <p:cNvSpPr/>
          <p:nvPr/>
        </p:nvSpPr>
        <p:spPr>
          <a:xfrm>
            <a:off x="8051800" y="3200400"/>
            <a:ext cx="3530600" cy="1295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DF4F5F-6492-1B7B-7FC4-18066A542F76}"/>
              </a:ext>
            </a:extLst>
          </p:cNvPr>
          <p:cNvSpPr/>
          <p:nvPr/>
        </p:nvSpPr>
        <p:spPr>
          <a:xfrm>
            <a:off x="8051800" y="3200400"/>
            <a:ext cx="63500" cy="1295400"/>
          </a:xfrm>
          <a:prstGeom prst="rect">
            <a:avLst/>
          </a:prstGeom>
          <a:solidFill>
            <a:srgbClr val="F0A34A"/>
          </a:solidFill>
          <a:ln w="10160">
            <a:solidFill>
              <a:srgbClr val="F0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FD3607-9190-2109-5FA1-841F5743D001}"/>
              </a:ext>
            </a:extLst>
          </p:cNvPr>
          <p:cNvSpPr txBox="1"/>
          <p:nvPr/>
        </p:nvSpPr>
        <p:spPr>
          <a:xfrm>
            <a:off x="8280400" y="3378200"/>
            <a:ext cx="3124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700" b="1">
                <a:solidFill>
                  <a:srgbClr val="102A43"/>
                </a:solidFill>
                <a:latin typeface="Aptos" panose="020B0004020202020204" pitchFamily="34" charset="0"/>
              </a:rPr>
              <a:t>Remediation preview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787E9B-B99B-A5B1-DC3F-9B748E096AC3}"/>
              </a:ext>
            </a:extLst>
          </p:cNvPr>
          <p:cNvSpPr txBox="1"/>
          <p:nvPr/>
        </p:nvSpPr>
        <p:spPr>
          <a:xfrm>
            <a:off x="8280400" y="3810000"/>
            <a:ext cx="30988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425466"/>
                </a:solidFill>
                <a:latin typeface="Aptos" panose="020B0004020202020204" pitchFamily="34" charset="0"/>
              </a:rPr>
              <a:t>The app displays proposed versioning SQL as a preview. It does not automatically promote the rule.</a:t>
            </a:r>
            <a:endParaRPr lang="en-IN" sz="12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F51859-9DFF-4C3B-480F-239967137086}"/>
              </a:ext>
            </a:extLst>
          </p:cNvPr>
          <p:cNvSpPr txBox="1"/>
          <p:nvPr/>
        </p:nvSpPr>
        <p:spPr>
          <a:xfrm>
            <a:off x="8051800" y="4800600"/>
            <a:ext cx="3530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425466"/>
                </a:solidFill>
                <a:latin typeface="Aptos" panose="020B0004020202020204" pitchFamily="34" charset="0"/>
              </a:rPr>
              <a:t>Audit chain: baseline -&gt; backtest run -&gt; review decision -&gt; optional, separately executed change.</a:t>
            </a:r>
            <a:endParaRPr lang="en-IN" sz="12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728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09B3B2-4DBE-6052-C026-3599F603C00A}"/>
              </a:ext>
            </a:extLst>
          </p:cNvPr>
          <p:cNvSpPr/>
          <p:nvPr/>
        </p:nvSpPr>
        <p:spPr>
          <a:xfrm>
            <a:off x="0" y="0"/>
            <a:ext cx="12192000" cy="2197100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CA3F60-FA4B-9C56-CF35-AC79394FAB3C}"/>
              </a:ext>
            </a:extLst>
          </p:cNvPr>
          <p:cNvSpPr txBox="1"/>
          <p:nvPr/>
        </p:nvSpPr>
        <p:spPr>
          <a:xfrm>
            <a:off x="609600" y="3556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 dirty="0">
                <a:solidFill>
                  <a:srgbClr val="087E9A"/>
                </a:solidFill>
                <a:latin typeface="Aptos" panose="020B0004020202020204" pitchFamily="34" charset="0"/>
              </a:rPr>
              <a:t>REGCHANGE RULETRACE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7F8B5A-8C45-6228-2541-5D9206EC0FB1}"/>
              </a:ext>
            </a:extLst>
          </p:cNvPr>
          <p:cNvSpPr txBox="1"/>
          <p:nvPr/>
        </p:nvSpPr>
        <p:spPr>
          <a:xfrm>
            <a:off x="609600" y="685800"/>
            <a:ext cx="1092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102A43"/>
                </a:solidFill>
                <a:latin typeface="Aptos" panose="020B0004020202020204" pitchFamily="34" charset="0"/>
              </a:rPr>
              <a:t>Ask questions against governed definitions</a:t>
            </a:r>
            <a:endParaRPr lang="en-IN" sz="2800" b="1">
              <a:solidFill>
                <a:srgbClr val="102A43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24A957-DD62-F42C-8190-9E4C0230A3DD}"/>
              </a:ext>
            </a:extLst>
          </p:cNvPr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D7E1EA"/>
          </a:solidFill>
          <a:ln w="10160">
            <a:solidFill>
              <a:srgbClr val="D7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B0A95E-67FB-5E71-E1C3-AA02139E1186}"/>
              </a:ext>
            </a:extLst>
          </p:cNvPr>
          <p:cNvSpPr txBox="1"/>
          <p:nvPr/>
        </p:nvSpPr>
        <p:spPr>
          <a:xfrm>
            <a:off x="609600" y="65786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>
                <a:solidFill>
                  <a:srgbClr val="64748B"/>
                </a:solidFill>
                <a:latin typeface="Aptos" panose="020B0004020202020204" pitchFamily="34" charset="0"/>
              </a:rPr>
              <a:t>SYNTHETIC HACKATHON DEMO  |  FICTIONAL AML SCENARIO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B8E5FA-48A4-8D3A-1129-A296A5A1ECB6}"/>
              </a:ext>
            </a:extLst>
          </p:cNvPr>
          <p:cNvSpPr txBox="1"/>
          <p:nvPr/>
        </p:nvSpPr>
        <p:spPr>
          <a:xfrm>
            <a:off x="11049000" y="65532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900" b="1">
                <a:solidFill>
                  <a:srgbClr val="087E9A"/>
                </a:solidFill>
                <a:latin typeface="Aptos" panose="020B0004020202020204" pitchFamily="34" charset="0"/>
              </a:rPr>
              <a:t>08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450A06-3CAE-BBBA-B498-ABB638B2D54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27305"/>
            <a:ext cx="7048500" cy="35589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FFAE6CA-E745-38C3-1619-E2B30572A414}"/>
              </a:ext>
            </a:extLst>
          </p:cNvPr>
          <p:cNvSpPr txBox="1"/>
          <p:nvPr/>
        </p:nvSpPr>
        <p:spPr>
          <a:xfrm>
            <a:off x="8051800" y="1701800"/>
            <a:ext cx="3556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087E9A"/>
                </a:solidFill>
                <a:latin typeface="Aptos" panose="020B0004020202020204" pitchFamily="34" charset="0"/>
              </a:rPr>
              <a:t>PLAIN LANGUAGE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A0835F-8C3B-9E1F-B82A-9C49799293DD}"/>
              </a:ext>
            </a:extLst>
          </p:cNvPr>
          <p:cNvSpPr txBox="1"/>
          <p:nvPr/>
        </p:nvSpPr>
        <p:spPr>
          <a:xfrm>
            <a:off x="8051800" y="2209800"/>
            <a:ext cx="3556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>
                <a:solidFill>
                  <a:srgbClr val="102A43"/>
                </a:solidFill>
                <a:latin typeface="Aptos" panose="020B0004020202020204" pitchFamily="34" charset="0"/>
              </a:rPr>
              <a:t>Ask about transactions, backtests, or approvals.</a:t>
            </a:r>
            <a:endParaRPr lang="en-IN" b="1">
              <a:solidFill>
                <a:srgbClr val="102A43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358064-01D7-3398-F7FC-C57D94C5BD42}"/>
              </a:ext>
            </a:extLst>
          </p:cNvPr>
          <p:cNvSpPr txBox="1"/>
          <p:nvPr/>
        </p:nvSpPr>
        <p:spPr>
          <a:xfrm>
            <a:off x="8051800" y="3365500"/>
            <a:ext cx="3556000" cy="60016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425466"/>
                </a:solidFill>
                <a:latin typeface="Aptos" panose="020B0004020202020204" pitchFamily="34" charset="0"/>
              </a:rPr>
              <a:t>Cortex Analyst uses the RegChange Semantic View. The app displays the returned SQL and, when available, query results.</a:t>
            </a:r>
            <a:endParaRPr lang="en-IN" sz="13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8B6ED5B-2072-1D0D-5C6E-087F64C734CB}"/>
              </a:ext>
            </a:extLst>
          </p:cNvPr>
          <p:cNvSpPr/>
          <p:nvPr/>
        </p:nvSpPr>
        <p:spPr>
          <a:xfrm>
            <a:off x="8051800" y="4914900"/>
            <a:ext cx="3530600" cy="609600"/>
          </a:xfrm>
          <a:prstGeom prst="roundRect">
            <a:avLst/>
          </a:prstGeom>
          <a:solidFill>
            <a:srgbClr val="E7F7FA"/>
          </a:solidFill>
          <a:ln w="10160">
            <a:solidFill>
              <a:srgbClr val="A8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26A172-3E6E-B354-7A8B-35E632A6BD04}"/>
              </a:ext>
            </a:extLst>
          </p:cNvPr>
          <p:cNvSpPr txBox="1"/>
          <p:nvPr/>
        </p:nvSpPr>
        <p:spPr>
          <a:xfrm>
            <a:off x="8216900" y="5067300"/>
            <a:ext cx="32004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 b="1">
                <a:solidFill>
                  <a:srgbClr val="087E9A"/>
                </a:solidFill>
                <a:latin typeface="Aptos" panose="020B0004020202020204" pitchFamily="34" charset="0"/>
              </a:rPr>
              <a:t>Verify live response before demo.</a:t>
            </a:r>
            <a:endParaRPr lang="en-IN" sz="1100" b="1">
              <a:solidFill>
                <a:srgbClr val="087E9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797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30F5C7-F623-9036-9075-015D2FBA3B37}"/>
              </a:ext>
            </a:extLst>
          </p:cNvPr>
          <p:cNvSpPr/>
          <p:nvPr/>
        </p:nvSpPr>
        <p:spPr>
          <a:xfrm>
            <a:off x="0" y="-1"/>
            <a:ext cx="12192000" cy="1430867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34F132-8E6A-26B8-721A-E40B1EEC91F0}"/>
              </a:ext>
            </a:extLst>
          </p:cNvPr>
          <p:cNvSpPr txBox="1"/>
          <p:nvPr/>
        </p:nvSpPr>
        <p:spPr>
          <a:xfrm>
            <a:off x="609600" y="3556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 dirty="0">
                <a:solidFill>
                  <a:srgbClr val="087E9A"/>
                </a:solidFill>
                <a:latin typeface="Aptos" panose="020B0004020202020204" pitchFamily="34" charset="0"/>
              </a:rPr>
              <a:t>REGCHANGE RULETRACE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D5CCDA-5468-71E8-A5B0-B2D69A95E644}"/>
              </a:ext>
            </a:extLst>
          </p:cNvPr>
          <p:cNvSpPr txBox="1"/>
          <p:nvPr/>
        </p:nvSpPr>
        <p:spPr>
          <a:xfrm>
            <a:off x="609600" y="685800"/>
            <a:ext cx="1092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102A43"/>
                </a:solidFill>
                <a:latin typeface="Aptos" panose="020B0004020202020204" pitchFamily="34" charset="0"/>
              </a:rPr>
              <a:t>Designed for reviewability, not autonomous control changes</a:t>
            </a:r>
            <a:endParaRPr lang="en-IN" sz="2800" b="1">
              <a:solidFill>
                <a:srgbClr val="102A43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447411-3C70-2DA3-27C7-6316B8BC7DB1}"/>
              </a:ext>
            </a:extLst>
          </p:cNvPr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D7E1EA"/>
          </a:solidFill>
          <a:ln w="10160">
            <a:solidFill>
              <a:srgbClr val="D7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39A088-F6D8-70C7-9C7C-5A5CDA113A1B}"/>
              </a:ext>
            </a:extLst>
          </p:cNvPr>
          <p:cNvSpPr txBox="1"/>
          <p:nvPr/>
        </p:nvSpPr>
        <p:spPr>
          <a:xfrm>
            <a:off x="609600" y="65786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>
                <a:solidFill>
                  <a:srgbClr val="64748B"/>
                </a:solidFill>
                <a:latin typeface="Aptos" panose="020B0004020202020204" pitchFamily="34" charset="0"/>
              </a:rPr>
              <a:t>SYNTHETIC HACKATHON DEMO  |  FICTIONAL AML SCENARIO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B6DC27-A69A-2B4F-395C-773005A2CE5C}"/>
              </a:ext>
            </a:extLst>
          </p:cNvPr>
          <p:cNvSpPr txBox="1"/>
          <p:nvPr/>
        </p:nvSpPr>
        <p:spPr>
          <a:xfrm>
            <a:off x="11049000" y="65532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900" b="1">
                <a:solidFill>
                  <a:srgbClr val="087E9A"/>
                </a:solidFill>
                <a:latin typeface="Aptos" panose="020B0004020202020204" pitchFamily="34" charset="0"/>
              </a:rPr>
              <a:t>09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309711-A37D-DFDD-47FE-29CEA1B49237}"/>
              </a:ext>
            </a:extLst>
          </p:cNvPr>
          <p:cNvSpPr/>
          <p:nvPr/>
        </p:nvSpPr>
        <p:spPr>
          <a:xfrm>
            <a:off x="609600" y="1676400"/>
            <a:ext cx="3403600" cy="152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B93050-7B90-D972-F3F5-A2BE2F41EC51}"/>
              </a:ext>
            </a:extLst>
          </p:cNvPr>
          <p:cNvSpPr/>
          <p:nvPr/>
        </p:nvSpPr>
        <p:spPr>
          <a:xfrm>
            <a:off x="609600" y="1676400"/>
            <a:ext cx="63500" cy="1524000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1796D2-6314-D22E-D0B9-CFC47C396D1C}"/>
              </a:ext>
            </a:extLst>
          </p:cNvPr>
          <p:cNvSpPr txBox="1"/>
          <p:nvPr/>
        </p:nvSpPr>
        <p:spPr>
          <a:xfrm>
            <a:off x="838200" y="1854200"/>
            <a:ext cx="2997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700" b="1">
                <a:solidFill>
                  <a:srgbClr val="102A43"/>
                </a:solidFill>
                <a:latin typeface="Aptos" panose="020B0004020202020204" pitchFamily="34" charset="0"/>
              </a:rPr>
              <a:t>Synthetic evidence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A3DD5E-8C47-4839-CD2B-6AFA57D69ED6}"/>
              </a:ext>
            </a:extLst>
          </p:cNvPr>
          <p:cNvSpPr txBox="1"/>
          <p:nvPr/>
        </p:nvSpPr>
        <p:spPr>
          <a:xfrm>
            <a:off x="838200" y="2286000"/>
            <a:ext cx="29718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425466"/>
                </a:solidFill>
                <a:latin typeface="Aptos" panose="020B0004020202020204" pitchFamily="34" charset="0"/>
              </a:rPr>
              <a:t>Fictional policy text and deterministic synthetic INR transactions; no real customer data.</a:t>
            </a:r>
            <a:endParaRPr lang="en-IN" sz="12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8C70D3A-05C4-50A1-5C18-EBD002DAACFE}"/>
              </a:ext>
            </a:extLst>
          </p:cNvPr>
          <p:cNvSpPr/>
          <p:nvPr/>
        </p:nvSpPr>
        <p:spPr>
          <a:xfrm>
            <a:off x="4394200" y="1676400"/>
            <a:ext cx="3403600" cy="152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BD68FA-FCB9-C09B-C846-EB698A602A63}"/>
              </a:ext>
            </a:extLst>
          </p:cNvPr>
          <p:cNvSpPr/>
          <p:nvPr/>
        </p:nvSpPr>
        <p:spPr>
          <a:xfrm>
            <a:off x="4394200" y="1676400"/>
            <a:ext cx="63500" cy="1524000"/>
          </a:xfrm>
          <a:prstGeom prst="rect">
            <a:avLst/>
          </a:prstGeom>
          <a:solidFill>
            <a:srgbClr val="36A37C"/>
          </a:solidFill>
          <a:ln w="10160">
            <a:solidFill>
              <a:srgbClr val="36A3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787515-022C-29D3-BC83-910A82EF39B6}"/>
              </a:ext>
            </a:extLst>
          </p:cNvPr>
          <p:cNvSpPr txBox="1"/>
          <p:nvPr/>
        </p:nvSpPr>
        <p:spPr>
          <a:xfrm>
            <a:off x="4622800" y="1854200"/>
            <a:ext cx="2997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700" b="1">
                <a:solidFill>
                  <a:srgbClr val="102A43"/>
                </a:solidFill>
                <a:latin typeface="Aptos" panose="020B0004020202020204" pitchFamily="34" charset="0"/>
              </a:rPr>
              <a:t>Constrained execution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3C3831-F347-4854-7CA0-16EFA9937EFC}"/>
              </a:ext>
            </a:extLst>
          </p:cNvPr>
          <p:cNvSpPr txBox="1"/>
          <p:nvPr/>
        </p:nvSpPr>
        <p:spPr>
          <a:xfrm>
            <a:off x="4622800" y="2286000"/>
            <a:ext cx="29718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425466"/>
                </a:solidFill>
                <a:latin typeface="Aptos" panose="020B0004020202020204" pitchFamily="34" charset="0"/>
              </a:rPr>
              <a:t>Typed threshold parameters drive replay. The SQL_PREDICATE string is descriptive metadata only.</a:t>
            </a:r>
            <a:endParaRPr lang="en-IN" sz="12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7630759-3B6B-BCF5-A978-DF171F44CAEE}"/>
              </a:ext>
            </a:extLst>
          </p:cNvPr>
          <p:cNvSpPr/>
          <p:nvPr/>
        </p:nvSpPr>
        <p:spPr>
          <a:xfrm>
            <a:off x="8178800" y="1676400"/>
            <a:ext cx="3403600" cy="152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E1E1AF-BE33-F12B-0AB1-9033FD2F5C4B}"/>
              </a:ext>
            </a:extLst>
          </p:cNvPr>
          <p:cNvSpPr/>
          <p:nvPr/>
        </p:nvSpPr>
        <p:spPr>
          <a:xfrm>
            <a:off x="8178800" y="1676400"/>
            <a:ext cx="63500" cy="1524000"/>
          </a:xfrm>
          <a:prstGeom prst="rect">
            <a:avLst/>
          </a:prstGeom>
          <a:solidFill>
            <a:srgbClr val="F0A34A"/>
          </a:solidFill>
          <a:ln w="10160">
            <a:solidFill>
              <a:srgbClr val="F0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A543C8-CEA9-37DD-4DA0-447D7CB6E097}"/>
              </a:ext>
            </a:extLst>
          </p:cNvPr>
          <p:cNvSpPr txBox="1"/>
          <p:nvPr/>
        </p:nvSpPr>
        <p:spPr>
          <a:xfrm>
            <a:off x="8407400" y="1854200"/>
            <a:ext cx="2997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700" b="1">
                <a:solidFill>
                  <a:srgbClr val="102A43"/>
                </a:solidFill>
                <a:latin typeface="Aptos" panose="020B0004020202020204" pitchFamily="34" charset="0"/>
              </a:rPr>
              <a:t>Human decision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75C978-3BDF-4132-0B79-FEBA95E78572}"/>
              </a:ext>
            </a:extLst>
          </p:cNvPr>
          <p:cNvSpPr txBox="1"/>
          <p:nvPr/>
        </p:nvSpPr>
        <p:spPr>
          <a:xfrm>
            <a:off x="8407400" y="2286000"/>
            <a:ext cx="297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425466"/>
                </a:solidFill>
                <a:latin typeface="Aptos" panose="020B0004020202020204" pitchFamily="34" charset="0"/>
              </a:rPr>
              <a:t>A reviewer records approval or rejection. AI output never applies a rule automatically.</a:t>
            </a:r>
            <a:endParaRPr lang="en-IN" sz="1200">
              <a:solidFill>
                <a:srgbClr val="425466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D4F4AF-E167-FE14-F252-5C5E80FC3E08}"/>
              </a:ext>
            </a:extLst>
          </p:cNvPr>
          <p:cNvSpPr txBox="1"/>
          <p:nvPr/>
        </p:nvSpPr>
        <p:spPr>
          <a:xfrm>
            <a:off x="1168400" y="3987800"/>
            <a:ext cx="9855200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102A43"/>
                </a:solidFill>
                <a:latin typeface="Aptos" panose="020B0004020202020204" pitchFamily="34" charset="0"/>
              </a:rPr>
              <a:t>The prototype demonstrates an explicit AML threshold scenario. It is not production AML advice, legal interpretation, or proof of enterprise-wide lineage.</a:t>
            </a:r>
            <a:endParaRPr lang="en-IN" sz="2000" b="1" dirty="0">
              <a:solidFill>
                <a:srgbClr val="102A43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09D2CD-D1B4-70ED-64B0-0E04A32C559C}"/>
              </a:ext>
            </a:extLst>
          </p:cNvPr>
          <p:cNvSpPr txBox="1"/>
          <p:nvPr/>
        </p:nvSpPr>
        <p:spPr>
          <a:xfrm>
            <a:off x="1905000" y="5308600"/>
            <a:ext cx="8382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sz="1400" b="1">
                <a:solidFill>
                  <a:srgbClr val="087E9A"/>
                </a:solidFill>
                <a:latin typeface="Aptos" panose="020B0004020202020204" pitchFamily="34" charset="0"/>
              </a:rPr>
              <a:t>Clear scope is part of the control.</a:t>
            </a:r>
            <a:endParaRPr lang="en-IN" sz="1400" b="1">
              <a:solidFill>
                <a:srgbClr val="087E9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245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A2E8BF-048C-6659-7EDA-E653381C3744}"/>
              </a:ext>
            </a:extLst>
          </p:cNvPr>
          <p:cNvSpPr/>
          <p:nvPr/>
        </p:nvSpPr>
        <p:spPr>
          <a:xfrm>
            <a:off x="0" y="0"/>
            <a:ext cx="12192000" cy="3611032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EB75EF-66A8-52DA-3B45-0EDC7EB666D2}"/>
              </a:ext>
            </a:extLst>
          </p:cNvPr>
          <p:cNvSpPr txBox="1"/>
          <p:nvPr/>
        </p:nvSpPr>
        <p:spPr>
          <a:xfrm>
            <a:off x="609600" y="355600"/>
            <a:ext cx="10160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 dirty="0">
                <a:solidFill>
                  <a:srgbClr val="087E9A"/>
                </a:solidFill>
                <a:latin typeface="Aptos" panose="020B0004020202020204" pitchFamily="34" charset="0"/>
              </a:rPr>
              <a:t>REGCHANGE RULETRACE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0AA7E1-F643-057E-516F-07AFF67ABB8D}"/>
              </a:ext>
            </a:extLst>
          </p:cNvPr>
          <p:cNvSpPr txBox="1"/>
          <p:nvPr/>
        </p:nvSpPr>
        <p:spPr>
          <a:xfrm>
            <a:off x="609600" y="685800"/>
            <a:ext cx="1092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102A43"/>
                </a:solidFill>
                <a:latin typeface="Aptos" panose="020B0004020202020204" pitchFamily="34" charset="0"/>
              </a:rPr>
              <a:t>What works now, and what remains future work</a:t>
            </a:r>
            <a:endParaRPr lang="en-IN" sz="2800" b="1">
              <a:solidFill>
                <a:srgbClr val="102A43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D1C277-0928-DA13-1C85-32AA9D6AE478}"/>
              </a:ext>
            </a:extLst>
          </p:cNvPr>
          <p:cNvSpPr/>
          <p:nvPr/>
        </p:nvSpPr>
        <p:spPr>
          <a:xfrm>
            <a:off x="609600" y="6477000"/>
            <a:ext cx="10972800" cy="12700"/>
          </a:xfrm>
          <a:prstGeom prst="rect">
            <a:avLst/>
          </a:prstGeom>
          <a:solidFill>
            <a:srgbClr val="D7E1EA"/>
          </a:solidFill>
          <a:ln w="10160">
            <a:solidFill>
              <a:srgbClr val="D7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D69D84-97D8-C2E2-9D4E-DA5498740D55}"/>
              </a:ext>
            </a:extLst>
          </p:cNvPr>
          <p:cNvSpPr txBox="1"/>
          <p:nvPr/>
        </p:nvSpPr>
        <p:spPr>
          <a:xfrm>
            <a:off x="609600" y="65786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>
                <a:solidFill>
                  <a:srgbClr val="64748B"/>
                </a:solidFill>
                <a:latin typeface="Aptos" panose="020B0004020202020204" pitchFamily="34" charset="0"/>
              </a:rPr>
              <a:t>SYNTHETIC HACKATHON DEMO  |  FICTIONAL AML SCENARIO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678E3E-BDC9-DAD0-5818-0D83530EB852}"/>
              </a:ext>
            </a:extLst>
          </p:cNvPr>
          <p:cNvSpPr txBox="1"/>
          <p:nvPr/>
        </p:nvSpPr>
        <p:spPr>
          <a:xfrm>
            <a:off x="11049000" y="65532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900" b="1">
                <a:solidFill>
                  <a:srgbClr val="087E9A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151998-145C-05CE-EF80-CBCAC67BBB0A}"/>
              </a:ext>
            </a:extLst>
          </p:cNvPr>
          <p:cNvSpPr txBox="1"/>
          <p:nvPr/>
        </p:nvSpPr>
        <p:spPr>
          <a:xfrm>
            <a:off x="685800" y="1536700"/>
            <a:ext cx="50165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 b="1">
                <a:solidFill>
                  <a:srgbClr val="087E9A"/>
                </a:solidFill>
                <a:latin typeface="Aptos" panose="020B0004020202020204" pitchFamily="34" charset="0"/>
              </a:rPr>
              <a:t>PROTOTYPE SCOPE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81C94D-2558-6E17-2026-3B1E72C3F850}"/>
              </a:ext>
            </a:extLst>
          </p:cNvPr>
          <p:cNvSpPr txBox="1"/>
          <p:nvPr/>
        </p:nvSpPr>
        <p:spPr>
          <a:xfrm>
            <a:off x="685800" y="2070100"/>
            <a:ext cx="4978400" cy="9848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600" dirty="0">
                <a:solidFill>
                  <a:srgbClr val="102A43"/>
                </a:solidFill>
                <a:latin typeface="Aptos" panose="020B0004020202020204" pitchFamily="34" charset="0"/>
              </a:rPr>
              <a:t>5-tab Streamlit workflow\n10,000 deterministic synthetic transactions\nOne AML threshold: INR 1,000,000 -&gt; INR 500,000\nPersisted backrests runs and review log\nCortex extraction + Analyst path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518616-D6B3-2988-31E0-C262C7CBFA71}"/>
              </a:ext>
            </a:extLst>
          </p:cNvPr>
          <p:cNvSpPr/>
          <p:nvPr/>
        </p:nvSpPr>
        <p:spPr>
          <a:xfrm>
            <a:off x="5969000" y="1549400"/>
            <a:ext cx="12700" cy="4064000"/>
          </a:xfrm>
          <a:prstGeom prst="rect">
            <a:avLst/>
          </a:prstGeom>
          <a:solidFill>
            <a:srgbClr val="D7E1EA"/>
          </a:solidFill>
          <a:ln w="10160">
            <a:solidFill>
              <a:srgbClr val="D7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BC14EA-835A-C267-58F6-52DB40F487EF}"/>
              </a:ext>
            </a:extLst>
          </p:cNvPr>
          <p:cNvSpPr txBox="1"/>
          <p:nvPr/>
        </p:nvSpPr>
        <p:spPr>
          <a:xfrm>
            <a:off x="6477000" y="1536700"/>
            <a:ext cx="50292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 b="1">
                <a:solidFill>
                  <a:srgbClr val="D26A4A"/>
                </a:solidFill>
                <a:latin typeface="Aptos" panose="020B0004020202020204" pitchFamily="34" charset="0"/>
              </a:rPr>
              <a:t>ROADMAP - NOT CLAIMED AS BUILT</a:t>
            </a:r>
            <a:endParaRPr lang="en-IN" sz="1200" b="1">
              <a:solidFill>
                <a:srgbClr val="D26A4A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2E44FF-AB3A-A017-050E-85AF3523F188}"/>
              </a:ext>
            </a:extLst>
          </p:cNvPr>
          <p:cNvSpPr txBox="1"/>
          <p:nvPr/>
        </p:nvSpPr>
        <p:spPr>
          <a:xfrm>
            <a:off x="6477000" y="2070100"/>
            <a:ext cx="5016500" cy="9848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600">
                <a:solidFill>
                  <a:srgbClr val="425466"/>
                </a:solidFill>
                <a:latin typeface="Aptos" panose="020B0004020202020204" pitchFamily="34" charset="0"/>
              </a:rPr>
              <a:t>Multi-regulator circular library\nContinuous impact monitoring\nAutomated data-quality gates\nSafe clone-based validation\nBroader lineage discovery and deployment access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2F360F-65BF-5982-FF8F-93929DD95E09}"/>
              </a:ext>
            </a:extLst>
          </p:cNvPr>
          <p:cNvSpPr txBox="1"/>
          <p:nvPr/>
        </p:nvSpPr>
        <p:spPr>
          <a:xfrm>
            <a:off x="685800" y="5740400"/>
            <a:ext cx="10744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</a:rPr>
              <a:t>Dataset and feature statements should be updated after final live validation.</a:t>
            </a:r>
            <a:endParaRPr lang="en-IN" sz="10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152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961436-E393-597A-80B0-F89F4E732D7F}"/>
              </a:ext>
            </a:extLst>
          </p:cNvPr>
          <p:cNvSpPr/>
          <p:nvPr/>
        </p:nvSpPr>
        <p:spPr>
          <a:xfrm>
            <a:off x="0" y="0"/>
            <a:ext cx="45719" cy="6858000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180CAD-1809-CD48-F205-F1301D25FF48}"/>
              </a:ext>
            </a:extLst>
          </p:cNvPr>
          <p:cNvSpPr txBox="1"/>
          <p:nvPr/>
        </p:nvSpPr>
        <p:spPr>
          <a:xfrm>
            <a:off x="812800" y="736600"/>
            <a:ext cx="10414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 dirty="0">
                <a:solidFill>
                  <a:srgbClr val="72DDF2"/>
                </a:solidFill>
                <a:latin typeface="Aptos" panose="020B0004020202020204" pitchFamily="34" charset="0"/>
              </a:rPr>
              <a:t>REGCHANGE RULETRACE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FDCF27-8135-46E6-279A-7811EA529D2E}"/>
              </a:ext>
            </a:extLst>
          </p:cNvPr>
          <p:cNvSpPr txBox="1"/>
          <p:nvPr/>
        </p:nvSpPr>
        <p:spPr>
          <a:xfrm>
            <a:off x="812800" y="1625600"/>
            <a:ext cx="10414000" cy="10464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3400" b="1" dirty="0">
                <a:solidFill>
                  <a:srgbClr val="0070C0"/>
                </a:solidFill>
                <a:latin typeface="Aptos" panose="020B0004020202020204" pitchFamily="34" charset="0"/>
              </a:rPr>
              <a:t>From policy proposal to\measured, reviewable impact.</a:t>
            </a:r>
            <a:endParaRPr lang="en-IN" sz="3400" b="1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CE2102-4213-0B91-A4D6-B57F46A677B1}"/>
              </a:ext>
            </a:extLst>
          </p:cNvPr>
          <p:cNvSpPr txBox="1"/>
          <p:nvPr/>
        </p:nvSpPr>
        <p:spPr>
          <a:xfrm>
            <a:off x="812800" y="3276600"/>
            <a:ext cx="10541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2000" dirty="0">
                <a:solidFill>
                  <a:srgbClr val="0070C0"/>
                </a:solidFill>
                <a:latin typeface="Aptos" panose="020B0004020202020204" pitchFamily="34" charset="0"/>
              </a:rPr>
              <a:t>AI proposes. Deterministic replay quantifies. Humans approve.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F9BC04-E5D0-4ADC-581E-01398B08F8D8}"/>
              </a:ext>
            </a:extLst>
          </p:cNvPr>
          <p:cNvSpPr/>
          <p:nvPr/>
        </p:nvSpPr>
        <p:spPr>
          <a:xfrm>
            <a:off x="812800" y="4394200"/>
            <a:ext cx="1524000" cy="50800"/>
          </a:xfrm>
          <a:prstGeom prst="rect">
            <a:avLst/>
          </a:prstGeom>
          <a:solidFill>
            <a:srgbClr val="28B8D8"/>
          </a:solidFill>
          <a:ln w="10160">
            <a:solidFill>
              <a:srgbClr val="28B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EBA3DB-A411-CFD0-07C9-92E0BBD74B0F}"/>
              </a:ext>
            </a:extLst>
          </p:cNvPr>
          <p:cNvSpPr txBox="1"/>
          <p:nvPr/>
        </p:nvSpPr>
        <p:spPr>
          <a:xfrm>
            <a:off x="812800" y="4800600"/>
            <a:ext cx="10287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>
                <a:solidFill>
                  <a:srgbClr val="72DDF2"/>
                </a:solidFill>
                <a:latin typeface="Aptos" panose="020B0004020202020204" pitchFamily="34" charset="0"/>
              </a:rPr>
              <a:t>GitHub: github.com/yogeshwagh450/regchange-ruletrace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9AF01D-50F2-6A43-D9F8-FDBC144FC9EE}"/>
              </a:ext>
            </a:extLst>
          </p:cNvPr>
          <p:cNvSpPr txBox="1"/>
          <p:nvPr/>
        </p:nvSpPr>
        <p:spPr>
          <a:xfrm>
            <a:off x="812800" y="5308600"/>
            <a:ext cx="10287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 dirty="0">
                <a:solidFill>
                  <a:srgbClr val="0070C0"/>
                </a:solidFill>
                <a:latin typeface="Aptos" panose="020B0004020202020204" pitchFamily="34" charset="0"/>
              </a:rPr>
              <a:t>Snowflake app: REGCHANGE_DB.REGCHANGE.REGCHANGE_APP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3FB112-135C-6BDD-B9AF-0F8D3AA4E442}"/>
              </a:ext>
            </a:extLst>
          </p:cNvPr>
          <p:cNvSpPr txBox="1"/>
          <p:nvPr/>
        </p:nvSpPr>
        <p:spPr>
          <a:xfrm>
            <a:off x="812800" y="5661223"/>
            <a:ext cx="10287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dirty="0">
                <a:hlinkClick r:id="rId2"/>
              </a:rPr>
              <a:t>Snowflake</a:t>
            </a:r>
            <a:endParaRPr lang="en-IN" sz="1100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147E6B-D29E-6043-CD04-35FFE090B1E2}"/>
              </a:ext>
            </a:extLst>
          </p:cNvPr>
          <p:cNvSpPr txBox="1"/>
          <p:nvPr/>
        </p:nvSpPr>
        <p:spPr>
          <a:xfrm>
            <a:off x="812800" y="6413500"/>
            <a:ext cx="10287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dirty="0">
                <a:solidFill>
                  <a:srgbClr val="B7C8D8"/>
                </a:solidFill>
                <a:latin typeface="Aptos" panose="020B0004020202020204" pitchFamily="34" charset="0"/>
              </a:rPr>
              <a:t>Yogesh Wagh  |  </a:t>
            </a:r>
            <a:r>
              <a:rPr lang="en-IN" sz="1000" dirty="0">
                <a:solidFill>
                  <a:srgbClr val="0070C0"/>
                </a:solidFill>
                <a:latin typeface="Aptos" panose="020B0004020202020204" pitchFamily="34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84371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36</TotalTime>
  <Words>830</Words>
  <Application>Microsoft Office PowerPoint</Application>
  <PresentationFormat>Widescreen</PresentationFormat>
  <Paragraphs>130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Yogesh Wagh</dc:creator>
  <cp:lastModifiedBy>Yogesh Wagh</cp:lastModifiedBy>
  <cp:revision>3</cp:revision>
  <dcterms:created xsi:type="dcterms:W3CDTF">2026-10-01T07:04:24Z</dcterms:created>
  <dcterms:modified xsi:type="dcterms:W3CDTF">2026-10-01T07:41:54Z</dcterms:modified>
</cp:coreProperties>
</file>