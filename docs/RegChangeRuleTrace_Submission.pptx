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2" r:id="rId3"/>
    <p:sldId id="257" r:id="rId4"/>
    <p:sldId id="258" r:id="rId5"/>
    <p:sldId id="259" r:id="rId6"/>
    <p:sldId id="260" r:id="rId7"/>
    <p:sldId id="263" r:id="rId8"/>
    <p:sldId id="264" r:id="rId9"/>
    <p:sldId id="265" r:id="rId10"/>
    <p:sldId id="266" r:id="rId11"/>
    <p:sldId id="267" r:id="rId12"/>
    <p:sldId id="268" r:id="rId13"/>
    <p:sldId id="261"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[REPO-VERIFIED SPEAKER NOTES - 2026-10-03]</a:t>
            </a:r>
          </a:p>
          <a:p>
            <a:pPr marL="0" lvl="0" indent="0" algn="l" rtl="0">
              <a:lnSpc>
                <a:spcPct val="100000"/>
              </a:lnSpc>
              <a:spcBef>
                <a:spcPts val="0"/>
              </a:spcBef>
              <a:spcAft>
                <a:spcPts val="0"/>
              </a:spcAft>
              <a:buSzPts val="1100"/>
              <a:buNone/>
            </a:pPr>
            <a:r>
              <a:rPr lang="en-US"/>
              <a:t>Official Template Cover</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SPOKEN SCRIPT:</a:t>
            </a:r>
          </a:p>
          <a:p>
            <a:pPr marL="0" lvl="0" indent="0" algn="l" rtl="0">
              <a:lnSpc>
                <a:spcPct val="100000"/>
              </a:lnSpc>
              <a:spcBef>
                <a:spcPts val="0"/>
              </a:spcBef>
              <a:spcAft>
                <a:spcPts val="0"/>
              </a:spcAft>
              <a:buSzPts val="1100"/>
              <a:buNone/>
            </a:pPr>
            <a:r>
              <a:rPr lang="en-US"/>
              <a:t>Hello, I am Yogesh Wagh, presenting RegChange RuleTrace as a solo entry for Problem Statement 01: Risk, Fraud and Regulatory Intelligence Copilot. My focus is a specific compliance decision: understanding the impact of a proposed transaction-monitoring threshold change before a reviewer decides what to do.</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REPOSITORY EVIDENCE: Cover fields match the selected project and challenge. The project uses Snowflake SQL and a Python Streamlit application.</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PRESENTER CAVEATS: Confirm the saved cover matches your portal team details. Do not describe the prototype as a complete production compliance platform.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RegChange RuleTrace</a:t>
            </a:r>
          </a:p>
          <a:p>
            <a:endParaRPr lang="en-US"/>
          </a:p>
          <a:p>
            <a:r>
              <a:rPr lang="en-US"/>
              <a:t>SPOKEN SCRIPT:</a:t>
            </a:r>
          </a:p>
          <a:p>
            <a:r>
              <a:rPr lang="en-US"/>
              <a:t>The product follows four ideas: trace the control, analyze the proposed change, validate the impact through replay, and govern the decision through human review. The demonstration uses fictional policy text and synthetic transactions. It is an engineering prototype, not legal interpretation or production AML advice.</a:t>
            </a:r>
          </a:p>
          <a:p>
            <a:endParaRPr lang="en-US"/>
          </a:p>
          <a:p>
            <a:r>
              <a:rPr lang="en-US"/>
              <a:t>REPOSITORY EVIDENCE: App caption labels policy and transactions fictional/synthetic; the source has extraction, replay and review paths.</a:t>
            </a:r>
          </a:p>
          <a:p>
            <a:endParaRPr lang="en-US"/>
          </a:p>
          <a:p>
            <a:r>
              <a:rPr lang="en-US"/>
              <a:t>PRESENTER CAVEATS: Repair the unfinished link text and add a clickable prototype URL. Verify access separately from your own authenticated Snowflake session.</a:t>
            </a:r>
            <a:endParaRPr lang="en-IN"/>
          </a:p>
        </p:txBody>
      </p:sp>
    </p:spTree>
    <p:extLst>
      <p:ext uri="{BB962C8B-B14F-4D97-AF65-F5344CB8AC3E}">
        <p14:creationId xmlns:p14="http://schemas.microsoft.com/office/powerpoint/2010/main" val="5728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The Operational Decision</a:t>
            </a:r>
          </a:p>
          <a:p>
            <a:endParaRPr lang="en-US"/>
          </a:p>
          <a:p>
            <a:r>
              <a:rPr lang="en-US"/>
              <a:t>SPOKEN SCRIPT:</a:t>
            </a:r>
          </a:p>
          <a:p>
            <a:r>
              <a:rPr lang="en-US"/>
              <a:t>A lower threshold can increase the number of monitoring alerts even when the underlying transactions have not changed. Before implementing the change, a compliance team needs to know the workload impact, the affected control, and who reviewed the proposal. RegChange brings those questions into one reviewable workflow rather than treating policy extraction as the final answer.</a:t>
            </a:r>
          </a:p>
          <a:p>
            <a:endParaRPr lang="en-US"/>
          </a:p>
          <a:p>
            <a:r>
              <a:rPr lang="en-US"/>
              <a:t>REPOSITORY EVIDENCE: SQL compares baseline and proposed thresholds over the same filtered transaction snapshot; review records reference a run ID.</a:t>
            </a:r>
          </a:p>
          <a:p>
            <a:endParaRPr lang="en-US"/>
          </a:p>
          <a:p>
            <a:r>
              <a:rPr lang="en-US"/>
              <a:t>PRESENTER CAVEATS: Present the manual process as a motivating example, not a measured finding about all banks. The synthetic alerts do not establish fraud or suspicious activity.</a:t>
            </a:r>
            <a:endParaRPr lang="en-IN"/>
          </a:p>
        </p:txBody>
      </p:sp>
    </p:spTree>
    <p:extLst>
      <p:ext uri="{BB962C8B-B14F-4D97-AF65-F5344CB8AC3E}">
        <p14:creationId xmlns:p14="http://schemas.microsoft.com/office/powerpoint/2010/main" val="3878538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Five Stages</a:t>
            </a:r>
          </a:p>
          <a:p>
            <a:endParaRPr lang="en-US"/>
          </a:p>
          <a:p>
            <a:r>
              <a:rPr lang="en-US"/>
              <a:t>SPOKEN SCRIPT:</a:t>
            </a:r>
          </a:p>
          <a:p>
            <a:r>
              <a:rPr lang="en-US"/>
              <a:t>The workflow starts with Cortex proposing structured fields from the fictional circular. The demonstration targets the existing AML_THRESHOLD_10L control. A SQL procedure then evaluates the old and proposed thresholds, reports the impact, and stores the run. Finally, a reviewer records approval or rejection with a comment. Approval is a recorded decision, not automatic rule promotion.</a:t>
            </a:r>
          </a:p>
          <a:p>
            <a:endParaRPr lang="en-US"/>
          </a:p>
          <a:p>
            <a:r>
              <a:rPr lang="en-US"/>
              <a:t>REPOSITORY EVIDENCE: The app exposes five tabs; RUN_THRESHOLD_BACKTEST writes BACKTEST_RUNS; Submit Review writes REVIEW_LOG.</a:t>
            </a:r>
          </a:p>
          <a:p>
            <a:endParaRPr lang="en-US"/>
          </a:p>
          <a:p>
            <a:r>
              <a:rPr lang="en-US"/>
              <a:t>PRESENTER CAVEATS: Control selection is fixed to one AML rule, not general automated obligation-to-control discovery. Human review is expected but an extraction confirmation gate is not enforced. Confirm sidebar updates during rehearsal.</a:t>
            </a:r>
            <a:endParaRPr lang="en-IN"/>
          </a:p>
        </p:txBody>
      </p:sp>
    </p:spTree>
    <p:extLst>
      <p:ext uri="{BB962C8B-B14F-4D97-AF65-F5344CB8AC3E}">
        <p14:creationId xmlns:p14="http://schemas.microsoft.com/office/powerpoint/2010/main" val="1873510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a:p>
            <a:endParaRPr lang="en-IN"/>
          </a:p>
          <a:p>
            <a:r>
              <a:rPr lang="en-IN"/>
              <a:t>[REPO-VERIFIED SPEAKER NOTES - 2026-10-03]</a:t>
            </a:r>
          </a:p>
          <a:p>
            <a:r>
              <a:rPr lang="en-IN"/>
              <a:t>Architecture</a:t>
            </a:r>
          </a:p>
          <a:p>
            <a:endParaRPr lang="en-IN"/>
          </a:p>
          <a:p>
            <a:r>
              <a:rPr lang="en-IN"/>
              <a:t>SPOKEN SCRIPT:</a:t>
            </a:r>
          </a:p>
          <a:p>
            <a:r>
              <a:rPr lang="en-IN"/>
              <a:t>The UI is Streamlit in Snowflake. The deployment manifest targets REGCHANGE_DB.REGCHANGE.REGCHANGE_APP, with COMPUTE_WH for queries and a container runtime. SQL tables hold synthetic transactions, versioned control metadata and backtest results. The app also writes a review log and calls Cortex for extraction and summaries, plus Cortex Analyst for natural-language questions.</a:t>
            </a:r>
          </a:p>
          <a:p>
            <a:endParaRPr lang="en-IN"/>
          </a:p>
          <a:p>
            <a:r>
              <a:rPr lang="en-IN"/>
              <a:t>REPOSITORY EVIDENCE: streamlit/snowflake.yml declares the app, warehouse, container runtime and compute pool. The SQL and app define the stated interactions.</a:t>
            </a:r>
          </a:p>
          <a:p>
            <a:endParaRPr lang="en-IN"/>
          </a:p>
          <a:p>
            <a:r>
              <a:rPr lang="en-IN"/>
              <a:t>PRESENTER CAVEATS: This verifies declared configuration, not live deployment. Semantic View setup and grants are missing from the reproducible repo setup. Do not equate platform-native services with zero software dependencies or guaranteed region-local inference.</a:t>
            </a:r>
          </a:p>
        </p:txBody>
      </p:sp>
    </p:spTree>
    <p:extLst>
      <p:ext uri="{BB962C8B-B14F-4D97-AF65-F5344CB8AC3E}">
        <p14:creationId xmlns:p14="http://schemas.microsoft.com/office/powerpoint/2010/main" val="248356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Policy Extraction</a:t>
            </a:r>
          </a:p>
          <a:p>
            <a:endParaRPr lang="en-US"/>
          </a:p>
          <a:p>
            <a:r>
              <a:rPr lang="en-US"/>
              <a:t>SPOKEN SCRIPT:</a:t>
            </a:r>
          </a:p>
          <a:p>
            <a:r>
              <a:rPr lang="en-US"/>
              <a:t>The fictional sample proposes lowering the threshold from INR one million to INR five hundred thousand. Cortex is asked for a rule name, parameter, old and new thresholds, currency, effective date and summary. The proposed fields are displayed for review. The reviewer must check them against the source text; an LLM response is not authoritative regulation.</a:t>
            </a:r>
          </a:p>
          <a:p>
            <a:endParaRPr lang="en-US"/>
          </a:p>
          <a:p>
            <a:r>
              <a:rPr lang="en-US"/>
              <a:t>REPOSITORY EVIDENCE: SAMPLE_POLICY_TEXT and the extraction prompt enumerate these fields. Session state receives selected extracted values.</a:t>
            </a:r>
          </a:p>
          <a:p>
            <a:endParaRPr lang="en-US"/>
          </a:p>
          <a:p>
            <a:r>
              <a:rPr lang="en-US"/>
              <a:t>PRESENTER CAVEATS: There is no persisted source/evidence record or comprehensive schema-validation gate. Do not claim support for arbitrary regulators or reliable rejection of every ambiguous circular. The backtest covers all INR transaction types, not only cash.</a:t>
            </a:r>
            <a:endParaRPr lang="en-IN"/>
          </a:p>
        </p:txBody>
      </p:sp>
    </p:spTree>
    <p:extLst>
      <p:ext uri="{BB962C8B-B14F-4D97-AF65-F5344CB8AC3E}">
        <p14:creationId xmlns:p14="http://schemas.microsoft.com/office/powerpoint/2010/main" val="2379879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Impact Results</a:t>
            </a:r>
          </a:p>
          <a:p>
            <a:endParaRPr lang="en-US"/>
          </a:p>
          <a:p>
            <a:r>
              <a:rPr lang="en-US"/>
              <a:t>SPOKEN SCRIPT:</a:t>
            </a:r>
          </a:p>
          <a:p>
            <a:r>
              <a:rPr lang="en-US"/>
              <a:t>For the unmodified synthetic dataset and July-to-October replay window, the checked-in logic produces 132 baseline alerts and 200 proposed alerts. That is 68 additional alerts, approximately a 51.52 percent increase. Fifty accounts have proposed-rule alerts. An important distinction is that more alerted transactions do not necessarily mean new alerted accounts: the local account-set comparison shows the same fifty accounts already had baseline alerts.</a:t>
            </a:r>
          </a:p>
          <a:p>
            <a:endParaRPr lang="en-US"/>
          </a:p>
          <a:p>
            <a:r>
              <a:rPr lang="en-US"/>
              <a:t>REPOSITORY EVIDENCE: A fresh local reproduction of the generator and amount predicates confirms these values. It also confirms 47 accounts with transactions in the newly flagged amount band, but zero new accounts relative to the baseline-alert set.</a:t>
            </a:r>
          </a:p>
          <a:p>
            <a:endParaRPr lang="en-US"/>
          </a:p>
          <a:p>
            <a:r>
              <a:rPr lang="en-US"/>
              <a:t>PRESENTER CAVEATS: BLOCKER: the current slide and app call 47 `newly alerted accounts`; correct and rerun before presenting. Local arithmetic is not a fresh Snowflake result. Do not convert alert counts into hiring recommendations without explicit assumptions; the summary prompt's 30 alerts per analyst per quarter is illustrative.</a:t>
            </a:r>
            <a:endParaRPr lang="en-IN"/>
          </a:p>
        </p:txBody>
      </p:sp>
    </p:spTree>
    <p:extLst>
      <p:ext uri="{BB962C8B-B14F-4D97-AF65-F5344CB8AC3E}">
        <p14:creationId xmlns:p14="http://schemas.microsoft.com/office/powerpoint/2010/main" val="1445578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Human Review</a:t>
            </a:r>
          </a:p>
          <a:p>
            <a:endParaRPr lang="en-US"/>
          </a:p>
          <a:p>
            <a:r>
              <a:rPr lang="en-US"/>
              <a:t>SPOKEN SCRIPT:</a:t>
            </a:r>
          </a:p>
          <a:p>
            <a:r>
              <a:rPr lang="en-US"/>
              <a:t>A reviewer selects a successful run, chooses approved or rejected, and adds a comment. The app stores the current Snowflake user, decision, run ID and review time. The remediation SQL is displayed separately as a preview. Recording approval does not execute the SQL or change the active control.</a:t>
            </a:r>
          </a:p>
          <a:p>
            <a:endParaRPr lang="en-US"/>
          </a:p>
          <a:p>
            <a:r>
              <a:rPr lang="en-US"/>
              <a:t>REPOSITORY EVIDENCE: The Submit Review INSERT uses CURRENT_USER() and CURRENT_TIMESTAMP(); remediation is rendered through st.code, not executed by an approval button.</a:t>
            </a:r>
          </a:p>
          <a:p>
            <a:endParaRPr lang="en-US"/>
          </a:p>
          <a:p>
            <a:r>
              <a:rPr lang="en-US"/>
              <a:t>PRESENTER CAVEATS: Do not execute the migration preview. It needs effective-date and transaction fixes. Persisted traceability begins at the backtest run; source policy evidence and its relationship to the run are not stored.</a:t>
            </a:r>
            <a:endParaRPr lang="en-IN"/>
          </a:p>
        </p:txBody>
      </p:sp>
    </p:spTree>
    <p:extLst>
      <p:ext uri="{BB962C8B-B14F-4D97-AF65-F5344CB8AC3E}">
        <p14:creationId xmlns:p14="http://schemas.microsoft.com/office/powerpoint/2010/main" val="1301120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Ask Analyst</a:t>
            </a:r>
          </a:p>
          <a:p>
            <a:endParaRPr lang="en-US"/>
          </a:p>
          <a:p>
            <a:r>
              <a:rPr lang="en-US"/>
              <a:t>SPOKEN SCRIPT:</a:t>
            </a:r>
          </a:p>
          <a:p>
            <a:r>
              <a:rPr lang="en-US"/>
              <a:t>The Ask Analyst tab lets a reviewer ask questions about the modeled data in plain language. The app sends the question and the configured Semantic View name to Cortex Analyst. When SQL is returned, the app displays it and attempts to show query results. This complements deterministic backtesting; it does not replace the procedure that calculates impact.</a:t>
            </a:r>
          </a:p>
          <a:p>
            <a:endParaRPr lang="en-US"/>
          </a:p>
          <a:p>
            <a:r>
              <a:rPr lang="en-US"/>
              <a:t>REPOSITORY EVIDENCE: The source posts to /api/v2/cortex/analyst/message with REGCHANGE_SEMANTIC and displays returned text, SQL, results or suggestions.</a:t>
            </a:r>
          </a:p>
          <a:p>
            <a:endParaRPr lang="en-US"/>
          </a:p>
          <a:p>
            <a:r>
              <a:rPr lang="en-US"/>
              <a:t>PRESENTER CAVEATS: Verify a live answer before rehearsal. The actual Semantic View definition is absent from the repo, so metric counts and relationships are not independently verified here. Describe grounding as assistance, not a guarantee of correct or safe SQL.</a:t>
            </a:r>
            <a:endParaRPr lang="en-IN"/>
          </a:p>
        </p:txBody>
      </p:sp>
    </p:spTree>
    <p:extLst>
      <p:ext uri="{BB962C8B-B14F-4D97-AF65-F5344CB8AC3E}">
        <p14:creationId xmlns:p14="http://schemas.microsoft.com/office/powerpoint/2010/main" val="2729210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Differentiation</a:t>
            </a:r>
          </a:p>
          <a:p>
            <a:endParaRPr lang="en-US"/>
          </a:p>
          <a:p>
            <a:r>
              <a:rPr lang="en-US"/>
              <a:t>SPOKEN SCRIPT:</a:t>
            </a:r>
          </a:p>
          <a:p>
            <a:r>
              <a:rPr lang="en-US"/>
              <a:t>The distinction is connecting AI-assisted interpretation to explicit measurement and a recorded human decision. The alert calculation is deterministic, while Cortex supports interpretation and summarization. Versioned control metadata, persisted backtest runs and review records make the prototype more useful than an isolated policy-summary chatbot.</a:t>
            </a:r>
          </a:p>
          <a:p>
            <a:endParaRPr lang="en-US"/>
          </a:p>
          <a:p>
            <a:r>
              <a:rPr lang="en-US"/>
              <a:t>REPOSITORY EVIDENCE: Cortex calls, typed SQL comparisons, BASELINE_RULE_VERSION in BACKTEST_RUNS and REVIEW_LOG inserts are present in source.</a:t>
            </a:r>
          </a:p>
          <a:p>
            <a:endParaRPr lang="en-US"/>
          </a:p>
          <a:p>
            <a:r>
              <a:rPr lang="en-US"/>
              <a:t>PRESENTER CAVEATS: Restore truncated service text. Replace zero external dependencies with a narrower claim about Snowflake-native services and synthetic data. Verify Semantic View counts before quoting them. Do not describe session-only policy text as a complete persisted evidence chain.</a:t>
            </a:r>
            <a:endParaRPr lang="en-IN"/>
          </a:p>
        </p:txBody>
      </p:sp>
    </p:spTree>
    <p:extLst>
      <p:ext uri="{BB962C8B-B14F-4D97-AF65-F5344CB8AC3E}">
        <p14:creationId xmlns:p14="http://schemas.microsoft.com/office/powerpoint/2010/main" val="3091705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Scope and Roadmap</a:t>
            </a:r>
          </a:p>
          <a:p>
            <a:endParaRPr lang="en-US"/>
          </a:p>
          <a:p>
            <a:r>
              <a:rPr lang="en-US"/>
              <a:t>SPOKEN SCRIPT:</a:t>
            </a:r>
          </a:p>
          <a:p>
            <a:r>
              <a:rPr lang="en-US"/>
              <a:t>Today the prototype covers one fictional AML threshold scenario using ten thousand deterministic synthetic transactions. It provides extraction, replay, history, review and an Analyst integration path. Future work includes validated support for more rule types, persistent policy evidence, continuous data ingestion and quality checks, and stronger concurrency and promotion controls. These are roadmap items, not completed production capabilities.</a:t>
            </a:r>
          </a:p>
          <a:p>
            <a:endParaRPr lang="en-US"/>
          </a:p>
          <a:p>
            <a:r>
              <a:rPr lang="en-US"/>
              <a:t>REPOSITORY EVIDENCE: The seed generator uses ROWCOUNT 10000 and the baseline selection is hard-coded to AML_THRESHOLD_10L. No continuous ingestion, Dynamic Table or DMF setup is checked in.</a:t>
            </a:r>
          </a:p>
          <a:p>
            <a:endParaRPr lang="en-US"/>
          </a:p>
          <a:p>
            <a:r>
              <a:rPr lang="en-US"/>
              <a:t>PRESENTER CAVEATS: Repair the slide's unfinished strings. No external datasets are used; the app does use a Snowflake REST API. Zero-copy clone replay is already implemented in the SQL and should not be listed as entirely future work, although hardening remains necessary.</a:t>
            </a:r>
            <a:endParaRPr lang="en-IN"/>
          </a:p>
        </p:txBody>
      </p:sp>
    </p:spTree>
    <p:extLst>
      <p:ext uri="{BB962C8B-B14F-4D97-AF65-F5344CB8AC3E}">
        <p14:creationId xmlns:p14="http://schemas.microsoft.com/office/powerpoint/2010/main" val="3063914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a:p>
            <a:endParaRPr lang="en-US"/>
          </a:p>
          <a:p>
            <a:r>
              <a:rPr lang="en-US"/>
              <a:t>[REPO-VERIFIED SPEAKER NOTES - 2026-10-03]</a:t>
            </a:r>
          </a:p>
          <a:p>
            <a:r>
              <a:rPr lang="en-US"/>
              <a:t>Closing Message</a:t>
            </a:r>
          </a:p>
          <a:p>
            <a:endParaRPr lang="en-US"/>
          </a:p>
          <a:p>
            <a:r>
              <a:rPr lang="en-US"/>
              <a:t>SPOKEN SCRIPT:</a:t>
            </a:r>
          </a:p>
          <a:p>
            <a:r>
              <a:rPr lang="en-US"/>
              <a:t>RegChange RuleTrace demonstrates how a proposed threshold change can become a measured, reviewable decision. AI proposes the fields, deterministic replay quantifies the alert impact, and a human records the outcome. The next step is strengthening the evidence and validation controls so the workflow can be extended beyond this synthetic demonstration.</a:t>
            </a:r>
          </a:p>
          <a:p>
            <a:endParaRPr lang="en-US"/>
          </a:p>
          <a:p>
            <a:r>
              <a:rPr lang="en-US"/>
              <a:t>REPOSITORY EVIDENCE: Extraction, SQL replay and review logging are implemented; production promotion remains separate.</a:t>
            </a:r>
          </a:p>
          <a:p>
            <a:endParaRPr lang="en-US"/>
          </a:p>
          <a:p>
            <a:r>
              <a:rPr lang="en-US"/>
              <a:t>PRESENTER CAVEATS: Replace the unverified under-60-seconds headline with an untimed claim unless a repeatable timed run supports it. Replace `Snowflake app: Snowflake` with the actual prototype link.</a:t>
            </a:r>
            <a:endParaRPr lang="en-IN"/>
          </a:p>
        </p:txBody>
      </p:sp>
    </p:spTree>
    <p:extLst>
      <p:ext uri="{BB962C8B-B14F-4D97-AF65-F5344CB8AC3E}">
        <p14:creationId xmlns:p14="http://schemas.microsoft.com/office/powerpoint/2010/main" val="1547088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83" name="Google Shape;8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[REPO-VERIFIED SPEAKER NOTES - 2026-10-03]</a:t>
            </a:r>
          </a:p>
          <a:p>
            <a:pPr marL="0" lvl="0" indent="0" algn="l" rtl="0">
              <a:lnSpc>
                <a:spcPct val="100000"/>
              </a:lnSpc>
              <a:spcBef>
                <a:spcPts val="0"/>
              </a:spcBef>
              <a:spcAft>
                <a:spcPts val="0"/>
              </a:spcAft>
              <a:buSzPts val="1100"/>
              <a:buNone/>
            </a:pPr>
            <a:r>
              <a:rPr lang="en-US"/>
              <a:t>Template Closing</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SPOKEN SCRIPT:</a:t>
            </a:r>
          </a:p>
          <a:p>
            <a:pPr marL="0" lvl="0" indent="0" algn="l" rtl="0">
              <a:lnSpc>
                <a:spcPct val="100000"/>
              </a:lnSpc>
              <a:spcBef>
                <a:spcPts val="0"/>
              </a:spcBef>
              <a:spcAft>
                <a:spcPts val="0"/>
              </a:spcAft>
              <a:buSzPts val="1100"/>
              <a:buNone/>
            </a:pPr>
            <a:r>
              <a:rPr lang="en-US"/>
              <a:t>Thank you. I am happy to walk through the replay logic, the human-review boundary, or the roadmap for stronger data and governance controls.</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REPOSITORY EVIDENCE: Official template closing retained; no additional product claims are made.</a:t>
            </a:r>
          </a:p>
          <a:p>
            <a:pPr marL="0" lvl="0" indent="0" algn="l" rtl="0">
              <a:lnSpc>
                <a:spcPct val="100000"/>
              </a:lnSpc>
              <a:spcBef>
                <a:spcPts val="0"/>
              </a:spcBef>
              <a:spcAft>
                <a:spcPts val="0"/>
              </a:spcAft>
              <a:buSzPts val="1100"/>
              <a:buNone/>
            </a:pPr>
            <a:endParaRPr lang="en-US"/>
          </a:p>
          <a:p>
            <a:pPr marL="0" lvl="0" indent="0" algn="l" rtl="0">
              <a:lnSpc>
                <a:spcPct val="100000"/>
              </a:lnSpc>
              <a:spcBef>
                <a:spcPts val="0"/>
              </a:spcBef>
              <a:spcAft>
                <a:spcPts val="0"/>
              </a:spcAft>
              <a:buSzPts val="1100"/>
              <a:buNone/>
            </a:pPr>
            <a:r>
              <a:rPr lang="en-US"/>
              <a:t>PRESENTER CAVEATS: Stop here or move to a rehearsed live demonstration. Do not run remediation SQL during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3" name="Google Shape;13;p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457200"/>
            <a:ext cx="7429499" cy="14287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005847"/>
            <a:ext cx="2397674"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845939" y="2520197"/>
            <a:ext cx="2406551"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86075" y="2008226"/>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78160" y="2522576"/>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889332" y="2005847"/>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889332" y="2520197"/>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7EED62AE-B66E-47FC-A954-9A6E9E0DF7AC}" type="datetimeFigureOut">
              <a:rPr lang="en-IN" smtClean="0"/>
              <a:t>03-10-2026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0A335B-008E-463A-815B-37A95DF21113}" type="slidenum">
              <a:rPr lang="en-IN" smtClean="0"/>
              <a:t>‹#›</a:t>
            </a:fld>
            <a:endParaRPr lang="en-IN"/>
          </a:p>
        </p:txBody>
      </p:sp>
    </p:spTree>
    <p:extLst>
      <p:ext uri="{BB962C8B-B14F-4D97-AF65-F5344CB8AC3E}">
        <p14:creationId xmlns:p14="http://schemas.microsoft.com/office/powerpoint/2010/main" val="90377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app.snowflake.com/qgsnkwx/md84147/#/streamlit-apps/REGCHANGE_DB.REGCHANGE.REGCHANGE_AP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app.snowflake.com/qgsnkwx/md84147/#/streamlit-apps/REGCHANGE_DB.REGCHANGE.REGCHANGE_APP"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Framexexexe 232.png"/>
          <p:cNvPicPr preferRelativeResize="0"/>
          <p:nvPr/>
        </p:nvPicPr>
        <p:blipFill rotWithShape="1">
          <a:blip r:embed="rId3">
            <a:alphaModFix/>
          </a:blip>
          <a:srcRect/>
          <a:stretch/>
        </p:blipFill>
        <p:spPr>
          <a:xfrm>
            <a:off x="-12" y="0"/>
            <a:ext cx="9144018" cy="5143501"/>
          </a:xfrm>
          <a:prstGeom prst="rect">
            <a:avLst/>
          </a:prstGeom>
          <a:noFill/>
          <a:ln>
            <a:noFill/>
          </a:ln>
        </p:spPr>
      </p:pic>
      <p:sp>
        <p:nvSpPr>
          <p:cNvPr id="55" name="Google Shape;55;p13"/>
          <p:cNvSpPr txBox="1"/>
          <p:nvPr/>
        </p:nvSpPr>
        <p:spPr>
          <a:xfrm>
            <a:off x="402808" y="3192600"/>
            <a:ext cx="7152900" cy="372600"/>
          </a:xfrm>
          <a:prstGeom prst="rect">
            <a:avLst/>
          </a:prstGeom>
          <a:noFill/>
          <a:ln>
            <a:noFill/>
          </a:ln>
        </p:spPr>
        <p:txBody>
          <a:bodyPr spcFirstLastPara="1" wrap="square" lIns="76750" tIns="76750" rIns="76750" bIns="76750" anchor="t" anchorCtr="0">
            <a:noAutofit/>
          </a:bodyPr>
          <a:lstStyle/>
          <a:p>
            <a:pPr marL="0" marR="0" lvl="0" indent="0" algn="l" rtl="0">
              <a:lnSpc>
                <a:spcPct val="80000"/>
              </a:lnSpc>
              <a:spcBef>
                <a:spcPts val="0"/>
              </a:spcBef>
              <a:spcAft>
                <a:spcPts val="0"/>
              </a:spcAft>
              <a:buClr>
                <a:srgbClr val="000000"/>
              </a:buClr>
              <a:buSzPts val="1343"/>
              <a:buFont typeface="Arial"/>
              <a:buNone/>
            </a:pPr>
            <a:r>
              <a:rPr lang="en-GB" sz="1343" b="0" i="0" u="none" strike="noStrike" cap="none">
                <a:solidFill>
                  <a:srgbClr val="202729"/>
                </a:solidFill>
                <a:latin typeface="Manrope SemiBold"/>
                <a:ea typeface="Manrope SemiBold"/>
                <a:cs typeface="Manrope SemiBold"/>
                <a:sym typeface="Manrope SemiBold"/>
              </a:rPr>
              <a:t>Team Name : RegChange RuleTrace</a:t>
            </a:r>
            <a:endParaRPr sz="1343" b="0" i="0" u="none" strike="noStrike" cap="none">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402788" y="4250161"/>
            <a:ext cx="7152900" cy="342900"/>
          </a:xfrm>
          <a:prstGeom prst="rect">
            <a:avLst/>
          </a:prstGeom>
          <a:noFill/>
          <a:ln>
            <a:noFill/>
          </a:ln>
        </p:spPr>
        <p:txBody>
          <a:bodyPr spcFirstLastPara="1" wrap="square" lIns="76750" tIns="76750" rIns="76750" bIns="76750" anchor="t" anchorCtr="0">
            <a:noAutofit/>
          </a:bodyPr>
          <a:lstStyle/>
          <a:p>
            <a:pPr marL="0" marR="0" lvl="0" indent="0" algn="l" rtl="0">
              <a:lnSpc>
                <a:spcPct val="70000"/>
              </a:lnSpc>
              <a:spcBef>
                <a:spcPts val="0"/>
              </a:spcBef>
              <a:spcAft>
                <a:spcPts val="0"/>
              </a:spcAft>
              <a:buClr>
                <a:srgbClr val="000000"/>
              </a:buClr>
              <a:buSzPts val="1343"/>
              <a:buFont typeface="Arial"/>
              <a:buNone/>
            </a:pPr>
            <a:r>
              <a:rPr lang="en-US" sz="1343" b="0" i="0" u="none" strike="noStrike" cap="none" dirty="0">
                <a:solidFill>
                  <a:srgbClr val="202729"/>
                </a:solidFill>
                <a:latin typeface="Manrope SemiBold"/>
                <a:ea typeface="Manrope SemiBold"/>
                <a:cs typeface="Manrope SemiBold"/>
                <a:sym typeface="Manrope SemiBold"/>
              </a:rPr>
              <a:t>Problem Statement : 01 - Risk, Fraud and Regulatory Intelligence Copilot</a:t>
            </a:r>
            <a:endParaRPr sz="1343" b="0" i="0" u="none" strike="noStrike" cap="none"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402798" y="3534656"/>
            <a:ext cx="7152900" cy="372600"/>
          </a:xfrm>
          <a:prstGeom prst="rect">
            <a:avLst/>
          </a:prstGeom>
          <a:noFill/>
          <a:ln>
            <a:noFill/>
          </a:ln>
        </p:spPr>
        <p:txBody>
          <a:bodyPr spcFirstLastPara="1" wrap="square" lIns="76750" tIns="76750" rIns="76750" bIns="76750" anchor="t" anchorCtr="0">
            <a:noAutofit/>
          </a:bodyPr>
          <a:lstStyle/>
          <a:p>
            <a:pPr marL="0" marR="0" lvl="0" indent="0" algn="l" rtl="0">
              <a:lnSpc>
                <a:spcPct val="80000"/>
              </a:lnSpc>
              <a:spcBef>
                <a:spcPts val="0"/>
              </a:spcBef>
              <a:spcAft>
                <a:spcPts val="0"/>
              </a:spcAft>
              <a:buClr>
                <a:srgbClr val="000000"/>
              </a:buClr>
              <a:buSzPts val="1343"/>
              <a:buFont typeface="Arial"/>
              <a:buNone/>
            </a:pPr>
            <a:r>
              <a:rPr lang="en-US" sz="1343" b="0" i="0" u="none" strike="noStrike" cap="none">
                <a:solidFill>
                  <a:srgbClr val="202729"/>
                </a:solidFill>
                <a:latin typeface="Manrope SemiBold"/>
                <a:ea typeface="Manrope SemiBold"/>
                <a:cs typeface="Manrope SemiBold"/>
                <a:sym typeface="Manrope SemiBold"/>
              </a:rPr>
              <a:t>Team Leader Name : Yogesh Wagh</a:t>
            </a:r>
            <a:endParaRPr sz="1343" b="0" i="0" u="none" strike="noStrike" cap="none">
              <a:solidFill>
                <a:srgbClr val="202729"/>
              </a:solidFill>
              <a:latin typeface="Manrope SemiBold"/>
              <a:ea typeface="Manrope SemiBold"/>
              <a:cs typeface="Manrope SemiBold"/>
              <a:sym typeface="Manrope SemiBold"/>
            </a:endParaRPr>
          </a:p>
        </p:txBody>
      </p:sp>
      <p:sp>
        <p:nvSpPr>
          <p:cNvPr id="58" name="Google Shape;58;p13"/>
          <p:cNvSpPr txBox="1"/>
          <p:nvPr/>
        </p:nvSpPr>
        <p:spPr>
          <a:xfrm>
            <a:off x="402788" y="3907261"/>
            <a:ext cx="7152900" cy="342900"/>
          </a:xfrm>
          <a:prstGeom prst="rect">
            <a:avLst/>
          </a:prstGeom>
          <a:noFill/>
          <a:ln>
            <a:noFill/>
          </a:ln>
        </p:spPr>
        <p:txBody>
          <a:bodyPr spcFirstLastPara="1" wrap="square" lIns="76750" tIns="76750" rIns="76750" bIns="76750" anchor="t" anchorCtr="0">
            <a:noAutofit/>
          </a:bodyPr>
          <a:lstStyle/>
          <a:p>
            <a:pPr marL="0" marR="0" lvl="0" indent="0" algn="l" rtl="0">
              <a:lnSpc>
                <a:spcPct val="70000"/>
              </a:lnSpc>
              <a:spcBef>
                <a:spcPts val="0"/>
              </a:spcBef>
              <a:spcAft>
                <a:spcPts val="0"/>
              </a:spcAft>
              <a:buClr>
                <a:srgbClr val="000000"/>
              </a:buClr>
              <a:buSzPts val="1343"/>
              <a:buFont typeface="Arial"/>
              <a:buNone/>
            </a:pPr>
            <a:r>
              <a:rPr lang="en-GB" sz="1343" b="0" i="0" u="none" strike="noStrike" cap="none">
                <a:solidFill>
                  <a:srgbClr val="202729"/>
                </a:solidFill>
                <a:latin typeface="Manrope SemiBold"/>
                <a:ea typeface="Manrope SemiBold"/>
                <a:cs typeface="Manrope SemiBold"/>
                <a:sym typeface="Manrope SemiBold"/>
              </a:rPr>
              <a:t>Team Size : 1 (Solo)</a:t>
            </a:r>
            <a:endParaRPr sz="1343" b="0" i="0" u="none" strike="noStrike" cap="none">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2" name="TransferTemplateBackground" title="Framewsxexexe 233.png">
            <a:extLst>
              <a:ext uri="{FF2B5EF4-FFF2-40B4-BE49-F238E27FC236}">
                <a16:creationId xmlns:a16="http://schemas.microsoft.com/office/drawing/2014/main" id="{93AAC3E8-16A5-2FA6-A3C6-4B81E546B937}"/>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1" name="Rectangle 10">
            <a:extLst>
              <a:ext uri="{FF2B5EF4-FFF2-40B4-BE49-F238E27FC236}">
                <a16:creationId xmlns:a16="http://schemas.microsoft.com/office/drawing/2014/main" id="{B2A9F332-1CF3-4219-68E5-F22DB7B19BA7}"/>
              </a:ext>
            </a:extLst>
          </p:cNvPr>
          <p:cNvSpPr>
            <a:spLocks/>
          </p:cNvSpPr>
          <p:nvPr/>
        </p:nvSpPr>
        <p:spPr>
          <a:xfrm>
            <a:off x="610410" y="515155"/>
            <a:ext cx="8229600" cy="4494995"/>
          </a:xfrm>
          <a:prstGeom prst="rect">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lumMod val="95000"/>
                  <a:lumOff val="5000"/>
                </a:schemeClr>
              </a:solidFill>
            </a:endParaRPr>
          </a:p>
        </p:txBody>
      </p:sp>
      <p:sp>
        <p:nvSpPr>
          <p:cNvPr id="2" name="Rectangle 1">
            <a:extLst>
              <a:ext uri="{FF2B5EF4-FFF2-40B4-BE49-F238E27FC236}">
                <a16:creationId xmlns:a16="http://schemas.microsoft.com/office/drawing/2014/main" id="{145BA42C-F422-941B-E592-8C544D7B9FF9}"/>
              </a:ext>
            </a:extLst>
          </p:cNvPr>
          <p:cNvSpPr>
            <a:spLocks/>
          </p:cNvSpPr>
          <p:nvPr/>
        </p:nvSpPr>
        <p:spPr>
          <a:xfrm>
            <a:off x="440056" y="549444"/>
            <a:ext cx="48005" cy="4460706"/>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CE111885-1B70-8BE8-59ED-8AE0CF4ABE8E}"/>
              </a:ext>
            </a:extLst>
          </p:cNvPr>
          <p:cNvSpPr txBox="1">
            <a:spLocks/>
          </p:cNvSpPr>
          <p:nvPr/>
        </p:nvSpPr>
        <p:spPr>
          <a:xfrm>
            <a:off x="962405" y="910784"/>
            <a:ext cx="7115175" cy="124650"/>
          </a:xfrm>
          <a:prstGeom prst="rect">
            <a:avLst/>
          </a:prstGeom>
          <a:noFill/>
        </p:spPr>
        <p:txBody>
          <a:bodyPr vert="horz" wrap="square" lIns="0" tIns="0" rIns="0" bIns="0" rtlCol="0" anchor="t">
            <a:noAutofit/>
          </a:bodyPr>
          <a:lstStyle/>
          <a:p>
            <a:r>
              <a:rPr lang="en-IN" sz="810" b="1" dirty="0">
                <a:solidFill>
                  <a:srgbClr val="102A43"/>
                </a:solidFill>
                <a:latin typeface="Aptos" panose="020B0004020202020204" pitchFamily="34" charset="0"/>
              </a:rPr>
              <a:t>SNOWFLAKE COCO CLI HACKATHON 2026 </a:t>
            </a:r>
          </a:p>
        </p:txBody>
      </p:sp>
      <p:sp>
        <p:nvSpPr>
          <p:cNvPr id="4" name="TextBox 3">
            <a:extLst>
              <a:ext uri="{FF2B5EF4-FFF2-40B4-BE49-F238E27FC236}">
                <a16:creationId xmlns:a16="http://schemas.microsoft.com/office/drawing/2014/main" id="{8CB39218-8ABB-CF46-0265-309E9F1DA4D7}"/>
              </a:ext>
            </a:extLst>
          </p:cNvPr>
          <p:cNvSpPr txBox="1">
            <a:spLocks/>
          </p:cNvSpPr>
          <p:nvPr/>
        </p:nvSpPr>
        <p:spPr>
          <a:xfrm>
            <a:off x="945261" y="1348997"/>
            <a:ext cx="6815138" cy="436273"/>
          </a:xfrm>
          <a:prstGeom prst="rect">
            <a:avLst/>
          </a:prstGeom>
          <a:noFill/>
        </p:spPr>
        <p:txBody>
          <a:bodyPr vert="horz" wrap="square" lIns="0" tIns="0" rIns="0" bIns="0" rtlCol="0" anchor="t">
            <a:noAutofit/>
          </a:bodyPr>
          <a:lstStyle/>
          <a:p>
            <a:r>
              <a:rPr lang="en-IN" sz="2835" b="1" dirty="0">
                <a:solidFill>
                  <a:schemeClr val="bg2">
                    <a:lumMod val="50000"/>
                  </a:schemeClr>
                </a:solidFill>
                <a:latin typeface="Aptos" panose="020B0004020202020204" pitchFamily="34" charset="0"/>
              </a:rPr>
              <a:t>RegChange</a:t>
            </a:r>
            <a:r>
              <a:rPr lang="en-IN" sz="2835" b="1" dirty="0">
                <a:solidFill>
                  <a:srgbClr val="0070C0"/>
                </a:solidFill>
                <a:latin typeface="Aptos" panose="020B0004020202020204" pitchFamily="34" charset="0"/>
              </a:rPr>
              <a:t> </a:t>
            </a:r>
            <a:r>
              <a:rPr lang="en-IN" sz="2835" b="1" dirty="0">
                <a:solidFill>
                  <a:schemeClr val="bg2">
                    <a:lumMod val="50000"/>
                  </a:schemeClr>
                </a:solidFill>
                <a:latin typeface="+mj-lt"/>
              </a:rPr>
              <a:t>RuleTrace</a:t>
            </a:r>
          </a:p>
        </p:txBody>
      </p:sp>
      <p:sp>
        <p:nvSpPr>
          <p:cNvPr id="5" name="TextBox 4">
            <a:extLst>
              <a:ext uri="{FF2B5EF4-FFF2-40B4-BE49-F238E27FC236}">
                <a16:creationId xmlns:a16="http://schemas.microsoft.com/office/drawing/2014/main" id="{59FFC424-D4EC-3F76-FB65-5DA2F8A25ADF}"/>
              </a:ext>
            </a:extLst>
          </p:cNvPr>
          <p:cNvSpPr txBox="1">
            <a:spLocks/>
          </p:cNvSpPr>
          <p:nvPr/>
        </p:nvSpPr>
        <p:spPr>
          <a:xfrm>
            <a:off x="962405" y="2032607"/>
            <a:ext cx="6515100" cy="249299"/>
          </a:xfrm>
          <a:prstGeom prst="rect">
            <a:avLst/>
          </a:prstGeom>
          <a:noFill/>
        </p:spPr>
        <p:txBody>
          <a:bodyPr vert="horz" wrap="square" lIns="0" tIns="0" rIns="0" bIns="0" rtlCol="0" anchor="t">
            <a:noAutofit/>
          </a:bodyPr>
          <a:lstStyle/>
          <a:p>
            <a:r>
              <a:rPr lang="en-US" sz="1620" dirty="0">
                <a:solidFill>
                  <a:schemeClr val="tx1">
                    <a:lumMod val="95000"/>
                    <a:lumOff val="5000"/>
                  </a:schemeClr>
                </a:solidFill>
                <a:latin typeface="Aptos" panose="020B0004020202020204" pitchFamily="34" charset="0"/>
              </a:rPr>
              <a:t>Regulatory Change Impact &amp; Control Intelligence</a:t>
            </a:r>
            <a:endParaRPr lang="en-IN" sz="1620" dirty="0">
              <a:solidFill>
                <a:schemeClr val="tx1">
                  <a:lumMod val="95000"/>
                  <a:lumOff val="5000"/>
                </a:schemeClr>
              </a:solidFill>
              <a:latin typeface="Aptos" panose="020B0004020202020204" pitchFamily="34" charset="0"/>
            </a:endParaRPr>
          </a:p>
        </p:txBody>
      </p:sp>
      <p:sp>
        <p:nvSpPr>
          <p:cNvPr id="6" name="Rectangle 5">
            <a:extLst>
              <a:ext uri="{FF2B5EF4-FFF2-40B4-BE49-F238E27FC236}">
                <a16:creationId xmlns:a16="http://schemas.microsoft.com/office/drawing/2014/main" id="{D2AC53B0-98D2-F35E-5629-87637D31FDAC}"/>
              </a:ext>
            </a:extLst>
          </p:cNvPr>
          <p:cNvSpPr>
            <a:spLocks/>
          </p:cNvSpPr>
          <p:nvPr/>
        </p:nvSpPr>
        <p:spPr>
          <a:xfrm flipV="1">
            <a:off x="1005839" y="2762652"/>
            <a:ext cx="2497215" cy="253676"/>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7" name="TextBox 6">
            <a:extLst>
              <a:ext uri="{FF2B5EF4-FFF2-40B4-BE49-F238E27FC236}">
                <a16:creationId xmlns:a16="http://schemas.microsoft.com/office/drawing/2014/main" id="{E66195ED-EA3E-2A64-75DF-7E3F71E48542}"/>
              </a:ext>
            </a:extLst>
          </p:cNvPr>
          <p:cNvSpPr txBox="1">
            <a:spLocks/>
          </p:cNvSpPr>
          <p:nvPr/>
        </p:nvSpPr>
        <p:spPr>
          <a:xfrm>
            <a:off x="1005839" y="2411686"/>
            <a:ext cx="6086475" cy="207749"/>
          </a:xfrm>
          <a:prstGeom prst="rect">
            <a:avLst/>
          </a:prstGeom>
          <a:noFill/>
        </p:spPr>
        <p:txBody>
          <a:bodyPr vert="horz" wrap="square" lIns="0" tIns="0" rIns="0" bIns="0" rtlCol="0" anchor="t">
            <a:noAutofit/>
          </a:bodyPr>
          <a:lstStyle/>
          <a:p>
            <a:r>
              <a:rPr lang="en-IN" sz="1350" b="1" dirty="0">
                <a:solidFill>
                  <a:schemeClr val="bg2">
                    <a:lumMod val="75000"/>
                  </a:schemeClr>
                </a:solidFill>
                <a:latin typeface="Aptos" panose="020B0004020202020204" pitchFamily="34" charset="0"/>
              </a:rPr>
              <a:t>Trace. Analyze. Validate. Govern.</a:t>
            </a:r>
          </a:p>
        </p:txBody>
      </p:sp>
      <p:sp>
        <p:nvSpPr>
          <p:cNvPr id="9" name="TextBox 8">
            <a:extLst>
              <a:ext uri="{FF2B5EF4-FFF2-40B4-BE49-F238E27FC236}">
                <a16:creationId xmlns:a16="http://schemas.microsoft.com/office/drawing/2014/main" id="{F55F4A1C-CDE0-396A-41D9-639AB5AAC75F}"/>
              </a:ext>
            </a:extLst>
          </p:cNvPr>
          <p:cNvSpPr txBox="1">
            <a:spLocks/>
          </p:cNvSpPr>
          <p:nvPr/>
        </p:nvSpPr>
        <p:spPr>
          <a:xfrm>
            <a:off x="984409" y="4160314"/>
            <a:ext cx="6858000" cy="207749"/>
          </a:xfrm>
          <a:prstGeom prst="rect">
            <a:avLst/>
          </a:prstGeom>
          <a:noFill/>
        </p:spPr>
        <p:txBody>
          <a:bodyPr vert="horz" wrap="square" lIns="0" tIns="0" rIns="0" bIns="0" rtlCol="0" anchor="t">
            <a:noAutofit/>
          </a:bodyPr>
          <a:lstStyle/>
          <a:p>
            <a:r>
              <a:rPr lang="en-IN" sz="1350" b="1" dirty="0">
                <a:solidFill>
                  <a:srgbClr val="0070C0"/>
                </a:solidFill>
                <a:latin typeface="Aptos" panose="020B0004020202020204" pitchFamily="34" charset="0"/>
              </a:rPr>
              <a:t>GitHub: github.com/yogeshwagh450/regchange-ruletrace </a:t>
            </a:r>
          </a:p>
          <a:p>
            <a:r>
              <a:rPr lang="en-IN" sz="1350" b="1" dirty="0">
                <a:solidFill>
                  <a:srgbClr val="0070C0"/>
                </a:solidFill>
                <a:latin typeface="Aptos" panose="020B0004020202020204" pitchFamily="34" charset="0"/>
              </a:rPr>
              <a:t>Prototype: </a:t>
            </a:r>
            <a:r>
              <a:rPr lang="en-IN" sz="1350" b="1" dirty="0">
                <a:solidFill>
                  <a:srgbClr val="0070C0"/>
                </a:solidFill>
                <a:latin typeface="Aptos" panose="020B0004020202020204" pitchFamily="34" charset="0"/>
                <a:hlinkClick r:id="rId4">
                  <a:extLst>
                    <a:ext uri="{A12FA001-AC4F-418D-AE19-62706E023703}">
                      <ahyp:hlinkClr xmlns:ahyp="http://schemas.microsoft.com/office/drawing/2018/hyperlinkcolor" val="tx"/>
                    </a:ext>
                  </a:extLst>
                </a:hlinkClick>
              </a:rPr>
              <a:t>Snowflake</a:t>
            </a:r>
            <a:endParaRPr lang="en-IN" sz="1350" b="1" dirty="0">
              <a:solidFill>
                <a:srgbClr val="0070C0"/>
              </a:solidFill>
              <a:latin typeface="Aptos" panose="020B0004020202020204" pitchFamily="34" charset="0"/>
            </a:endParaRPr>
          </a:p>
          <a:p>
            <a:endParaRPr lang="en-IN" sz="1350" dirty="0">
              <a:solidFill>
                <a:schemeClr val="tx1">
                  <a:lumMod val="95000"/>
                  <a:lumOff val="5000"/>
                </a:schemeClr>
              </a:solidFill>
              <a:latin typeface="Aptos" panose="020B0004020202020204" pitchFamily="34" charset="0"/>
            </a:endParaRPr>
          </a:p>
        </p:txBody>
      </p:sp>
      <p:sp>
        <p:nvSpPr>
          <p:cNvPr id="10" name="TextBox 9">
            <a:extLst>
              <a:ext uri="{FF2B5EF4-FFF2-40B4-BE49-F238E27FC236}">
                <a16:creationId xmlns:a16="http://schemas.microsoft.com/office/drawing/2014/main" id="{5E2EA597-917B-7663-CB1C-66315B72C8DF}"/>
              </a:ext>
            </a:extLst>
          </p:cNvPr>
          <p:cNvSpPr txBox="1">
            <a:spLocks/>
          </p:cNvSpPr>
          <p:nvPr/>
        </p:nvSpPr>
        <p:spPr>
          <a:xfrm>
            <a:off x="945261" y="4572858"/>
            <a:ext cx="6858000" cy="207749"/>
          </a:xfrm>
          <a:prstGeom prst="rect">
            <a:avLst/>
          </a:prstGeom>
          <a:noFill/>
        </p:spPr>
        <p:txBody>
          <a:bodyPr vert="horz" wrap="square" lIns="0" tIns="0" rIns="0" bIns="0" rtlCol="0" anchor="t">
            <a:noAutofit/>
          </a:bodyPr>
          <a:lstStyle/>
          <a:p>
            <a:endParaRPr lang="en-IN" sz="1350" dirty="0">
              <a:solidFill>
                <a:schemeClr val="tx1">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902762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29" name="TransferTemplateBackground" title="Framewsxexexe 233.png">
            <a:extLst>
              <a:ext uri="{FF2B5EF4-FFF2-40B4-BE49-F238E27FC236}">
                <a16:creationId xmlns:a16="http://schemas.microsoft.com/office/drawing/2014/main" id="{12089CE9-E9D8-7D24-DD5A-6CE6B590B162}"/>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5" name="Rectangle 24">
            <a:extLst>
              <a:ext uri="{FF2B5EF4-FFF2-40B4-BE49-F238E27FC236}">
                <a16:creationId xmlns:a16="http://schemas.microsoft.com/office/drawing/2014/main" id="{62C47415-9568-4F28-1F83-83E43C8939B8}"/>
              </a:ext>
            </a:extLst>
          </p:cNvPr>
          <p:cNvSpPr>
            <a:spLocks/>
          </p:cNvSpPr>
          <p:nvPr/>
        </p:nvSpPr>
        <p:spPr>
          <a:xfrm>
            <a:off x="457199" y="489398"/>
            <a:ext cx="8229601" cy="4520752"/>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EA7711CE-1EDB-8646-4DC1-23E3C05AD71E}"/>
              </a:ext>
            </a:extLst>
          </p:cNvPr>
          <p:cNvSpPr>
            <a:spLocks/>
          </p:cNvSpPr>
          <p:nvPr/>
        </p:nvSpPr>
        <p:spPr>
          <a:xfrm>
            <a:off x="665798" y="742048"/>
            <a:ext cx="8021003" cy="2938399"/>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9BDC8703-8391-64B3-4E41-A03A77A01CD4}"/>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B9E33EAF-1B7A-E043-ACED-ACB8A9F66513}"/>
              </a:ext>
            </a:extLst>
          </p:cNvPr>
          <p:cNvSpPr txBox="1">
            <a:spLocks/>
          </p:cNvSpPr>
          <p:nvPr/>
        </p:nvSpPr>
        <p:spPr>
          <a:xfrm>
            <a:off x="868680" y="843915"/>
            <a:ext cx="7372350" cy="290849"/>
          </a:xfrm>
          <a:prstGeom prst="rect">
            <a:avLst/>
          </a:prstGeom>
          <a:noFill/>
        </p:spPr>
        <p:txBody>
          <a:bodyPr vert="horz" wrap="square" lIns="0" tIns="0" rIns="0" bIns="0" rtlCol="0" anchor="t">
            <a:noAutofit/>
          </a:bodyPr>
          <a:lstStyle/>
          <a:p>
            <a:r>
              <a:rPr lang="en-US" sz="1890" b="1" dirty="0">
                <a:solidFill>
                  <a:srgbClr val="102A43"/>
                </a:solidFill>
                <a:latin typeface="Aptos" panose="020B0004020202020204" pitchFamily="34" charset="0"/>
              </a:rPr>
              <a:t>A threshold change is an operational decision</a:t>
            </a:r>
            <a:endParaRPr lang="en-IN" sz="1890" b="1" dirty="0">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AAE13CBA-0E8D-C8D1-38C3-97350EABE465}"/>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8" name="TextBox 7">
            <a:extLst>
              <a:ext uri="{FF2B5EF4-FFF2-40B4-BE49-F238E27FC236}">
                <a16:creationId xmlns:a16="http://schemas.microsoft.com/office/drawing/2014/main" id="{A1C33801-52A7-A64D-246C-2B129252C6C9}"/>
              </a:ext>
            </a:extLst>
          </p:cNvPr>
          <p:cNvSpPr txBox="1">
            <a:spLocks/>
          </p:cNvSpPr>
          <p:nvPr/>
        </p:nvSpPr>
        <p:spPr>
          <a:xfrm>
            <a:off x="868681" y="1323976"/>
            <a:ext cx="7286625" cy="176651"/>
          </a:xfrm>
          <a:prstGeom prst="rect">
            <a:avLst/>
          </a:prstGeom>
          <a:noFill/>
        </p:spPr>
        <p:txBody>
          <a:bodyPr vert="horz" wrap="square" lIns="0" tIns="0" rIns="0" bIns="0" rtlCol="0" anchor="t">
            <a:noAutofit/>
          </a:bodyPr>
          <a:lstStyle/>
          <a:p>
            <a:r>
              <a:rPr lang="en-US" sz="1148">
                <a:solidFill>
                  <a:srgbClr val="425466"/>
                </a:solidFill>
                <a:latin typeface="Aptos" panose="020B0004020202020204" pitchFamily="34" charset="0"/>
              </a:rPr>
              <a:t>A lower monitoring threshold can materially change workload before a rule goes live.</a:t>
            </a:r>
            <a:endParaRPr lang="en-IN" sz="1148">
              <a:solidFill>
                <a:srgbClr val="425466"/>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9C3ABAC2-77B4-37FA-53FD-D0D0C1891288}"/>
              </a:ext>
            </a:extLst>
          </p:cNvPr>
          <p:cNvSpPr>
            <a:spLocks/>
          </p:cNvSpPr>
          <p:nvPr/>
        </p:nvSpPr>
        <p:spPr>
          <a:xfrm>
            <a:off x="868681" y="1838326"/>
            <a:ext cx="1663065" cy="94297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0" name="TextBox 9">
            <a:extLst>
              <a:ext uri="{FF2B5EF4-FFF2-40B4-BE49-F238E27FC236}">
                <a16:creationId xmlns:a16="http://schemas.microsoft.com/office/drawing/2014/main" id="{6F601A31-B58B-8FB2-7A0B-8A553942256C}"/>
              </a:ext>
            </a:extLst>
          </p:cNvPr>
          <p:cNvSpPr txBox="1">
            <a:spLocks/>
          </p:cNvSpPr>
          <p:nvPr/>
        </p:nvSpPr>
        <p:spPr>
          <a:xfrm>
            <a:off x="1005841" y="1966913"/>
            <a:ext cx="360045" cy="124650"/>
          </a:xfrm>
          <a:prstGeom prst="rect">
            <a:avLst/>
          </a:prstGeom>
          <a:noFill/>
        </p:spPr>
        <p:txBody>
          <a:bodyPr vert="horz" wrap="square" lIns="0" tIns="0" rIns="0" bIns="0" rtlCol="0" anchor="t">
            <a:noAutofit/>
          </a:bodyPr>
          <a:lstStyle/>
          <a:p>
            <a:r>
              <a:rPr lang="en-IN" sz="810" b="1">
                <a:solidFill>
                  <a:srgbClr val="087E9A"/>
                </a:solidFill>
                <a:latin typeface="Aptos" panose="020B0004020202020204" pitchFamily="34" charset="0"/>
              </a:rPr>
              <a:t>01</a:t>
            </a:r>
          </a:p>
        </p:txBody>
      </p:sp>
      <p:sp>
        <p:nvSpPr>
          <p:cNvPr id="11" name="TextBox 10">
            <a:extLst>
              <a:ext uri="{FF2B5EF4-FFF2-40B4-BE49-F238E27FC236}">
                <a16:creationId xmlns:a16="http://schemas.microsoft.com/office/drawing/2014/main" id="{C0C2A0F1-578F-5B10-A620-5BDAD4CC5C65}"/>
              </a:ext>
            </a:extLst>
          </p:cNvPr>
          <p:cNvSpPr txBox="1">
            <a:spLocks/>
          </p:cNvSpPr>
          <p:nvPr/>
        </p:nvSpPr>
        <p:spPr>
          <a:xfrm>
            <a:off x="1005841" y="2232661"/>
            <a:ext cx="142303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Interpret circular</a:t>
            </a:r>
          </a:p>
        </p:txBody>
      </p:sp>
      <p:sp>
        <p:nvSpPr>
          <p:cNvPr id="12" name="TextBox 11">
            <a:extLst>
              <a:ext uri="{FF2B5EF4-FFF2-40B4-BE49-F238E27FC236}">
                <a16:creationId xmlns:a16="http://schemas.microsoft.com/office/drawing/2014/main" id="{DBAFD033-C2AC-30CE-8E98-FD24BE130569}"/>
              </a:ext>
            </a:extLst>
          </p:cNvPr>
          <p:cNvSpPr txBox="1">
            <a:spLocks/>
          </p:cNvSpPr>
          <p:nvPr/>
        </p:nvSpPr>
        <p:spPr>
          <a:xfrm>
            <a:off x="2557463" y="2121218"/>
            <a:ext cx="171450" cy="145424"/>
          </a:xfrm>
          <a:prstGeom prst="rect">
            <a:avLst/>
          </a:prstGeom>
          <a:noFill/>
        </p:spPr>
        <p:txBody>
          <a:bodyPr vert="horz" wrap="square" lIns="0" tIns="0" rIns="0" bIns="0" rtlCol="0" anchor="t">
            <a:noAutofit/>
          </a:bodyPr>
          <a:lstStyle/>
          <a:p>
            <a:pPr algn="ctr"/>
            <a:r>
              <a:rPr lang="en-IN" sz="945" b="1">
                <a:solidFill>
                  <a:srgbClr val="28B8D8"/>
                </a:solidFill>
                <a:latin typeface="Aptos" panose="020B0004020202020204" pitchFamily="34" charset="0"/>
              </a:rPr>
              <a:t>&gt;</a:t>
            </a:r>
          </a:p>
        </p:txBody>
      </p:sp>
      <p:sp>
        <p:nvSpPr>
          <p:cNvPr id="13" name="Rectangle: Rounded Corners 12">
            <a:extLst>
              <a:ext uri="{FF2B5EF4-FFF2-40B4-BE49-F238E27FC236}">
                <a16:creationId xmlns:a16="http://schemas.microsoft.com/office/drawing/2014/main" id="{F599F4F0-C291-7356-1BA1-955200E1CD08}"/>
              </a:ext>
            </a:extLst>
          </p:cNvPr>
          <p:cNvSpPr>
            <a:spLocks/>
          </p:cNvSpPr>
          <p:nvPr/>
        </p:nvSpPr>
        <p:spPr>
          <a:xfrm>
            <a:off x="2737486" y="1838326"/>
            <a:ext cx="1663065" cy="94297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4" name="TextBox 13">
            <a:extLst>
              <a:ext uri="{FF2B5EF4-FFF2-40B4-BE49-F238E27FC236}">
                <a16:creationId xmlns:a16="http://schemas.microsoft.com/office/drawing/2014/main" id="{238B5FAC-1965-23EA-19C1-8764852F4886}"/>
              </a:ext>
            </a:extLst>
          </p:cNvPr>
          <p:cNvSpPr txBox="1">
            <a:spLocks/>
          </p:cNvSpPr>
          <p:nvPr/>
        </p:nvSpPr>
        <p:spPr>
          <a:xfrm>
            <a:off x="2874646" y="1966913"/>
            <a:ext cx="360045" cy="124650"/>
          </a:xfrm>
          <a:prstGeom prst="rect">
            <a:avLst/>
          </a:prstGeom>
          <a:noFill/>
        </p:spPr>
        <p:txBody>
          <a:bodyPr vert="horz" wrap="square" lIns="0" tIns="0" rIns="0" bIns="0" rtlCol="0" anchor="t">
            <a:noAutofit/>
          </a:bodyPr>
          <a:lstStyle/>
          <a:p>
            <a:r>
              <a:rPr lang="en-IN" sz="810" b="1">
                <a:solidFill>
                  <a:srgbClr val="087E9A"/>
                </a:solidFill>
                <a:latin typeface="Aptos" panose="020B0004020202020204" pitchFamily="34" charset="0"/>
              </a:rPr>
              <a:t>02</a:t>
            </a:r>
          </a:p>
        </p:txBody>
      </p:sp>
      <p:sp>
        <p:nvSpPr>
          <p:cNvPr id="15" name="TextBox 14">
            <a:extLst>
              <a:ext uri="{FF2B5EF4-FFF2-40B4-BE49-F238E27FC236}">
                <a16:creationId xmlns:a16="http://schemas.microsoft.com/office/drawing/2014/main" id="{227CB531-0F0F-EF9F-12A3-48EBB006BC91}"/>
              </a:ext>
            </a:extLst>
          </p:cNvPr>
          <p:cNvSpPr txBox="1">
            <a:spLocks/>
          </p:cNvSpPr>
          <p:nvPr/>
        </p:nvSpPr>
        <p:spPr>
          <a:xfrm>
            <a:off x="2874646" y="2232661"/>
            <a:ext cx="142303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Estimate alert impact</a:t>
            </a:r>
          </a:p>
        </p:txBody>
      </p:sp>
      <p:sp>
        <p:nvSpPr>
          <p:cNvPr id="16" name="TextBox 15">
            <a:extLst>
              <a:ext uri="{FF2B5EF4-FFF2-40B4-BE49-F238E27FC236}">
                <a16:creationId xmlns:a16="http://schemas.microsoft.com/office/drawing/2014/main" id="{6F903766-DA0F-B260-2B04-CDBB5941EDFD}"/>
              </a:ext>
            </a:extLst>
          </p:cNvPr>
          <p:cNvSpPr txBox="1">
            <a:spLocks/>
          </p:cNvSpPr>
          <p:nvPr/>
        </p:nvSpPr>
        <p:spPr>
          <a:xfrm>
            <a:off x="4426267" y="2121218"/>
            <a:ext cx="171450" cy="145424"/>
          </a:xfrm>
          <a:prstGeom prst="rect">
            <a:avLst/>
          </a:prstGeom>
          <a:noFill/>
        </p:spPr>
        <p:txBody>
          <a:bodyPr vert="horz" wrap="square" lIns="0" tIns="0" rIns="0" bIns="0" rtlCol="0" anchor="t">
            <a:noAutofit/>
          </a:bodyPr>
          <a:lstStyle/>
          <a:p>
            <a:pPr algn="ctr"/>
            <a:r>
              <a:rPr lang="en-IN" sz="945" b="1">
                <a:solidFill>
                  <a:srgbClr val="28B8D8"/>
                </a:solidFill>
                <a:latin typeface="Aptos" panose="020B0004020202020204" pitchFamily="34" charset="0"/>
              </a:rPr>
              <a:t>&gt;</a:t>
            </a:r>
          </a:p>
        </p:txBody>
      </p:sp>
      <p:sp>
        <p:nvSpPr>
          <p:cNvPr id="17" name="Rectangle: Rounded Corners 16">
            <a:extLst>
              <a:ext uri="{FF2B5EF4-FFF2-40B4-BE49-F238E27FC236}">
                <a16:creationId xmlns:a16="http://schemas.microsoft.com/office/drawing/2014/main" id="{FCA2156C-5C1E-5A5C-83C5-BC861C1A491B}"/>
              </a:ext>
            </a:extLst>
          </p:cNvPr>
          <p:cNvSpPr>
            <a:spLocks/>
          </p:cNvSpPr>
          <p:nvPr/>
        </p:nvSpPr>
        <p:spPr>
          <a:xfrm>
            <a:off x="4606291" y="1838326"/>
            <a:ext cx="1663065" cy="94297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8" name="TextBox 17">
            <a:extLst>
              <a:ext uri="{FF2B5EF4-FFF2-40B4-BE49-F238E27FC236}">
                <a16:creationId xmlns:a16="http://schemas.microsoft.com/office/drawing/2014/main" id="{F27E6318-6E77-E3C5-0CDF-CB70F768738F}"/>
              </a:ext>
            </a:extLst>
          </p:cNvPr>
          <p:cNvSpPr txBox="1">
            <a:spLocks/>
          </p:cNvSpPr>
          <p:nvPr/>
        </p:nvSpPr>
        <p:spPr>
          <a:xfrm>
            <a:off x="4743451" y="1966913"/>
            <a:ext cx="360045" cy="124650"/>
          </a:xfrm>
          <a:prstGeom prst="rect">
            <a:avLst/>
          </a:prstGeom>
          <a:noFill/>
        </p:spPr>
        <p:txBody>
          <a:bodyPr vert="horz" wrap="square" lIns="0" tIns="0" rIns="0" bIns="0" rtlCol="0" anchor="t">
            <a:noAutofit/>
          </a:bodyPr>
          <a:lstStyle/>
          <a:p>
            <a:r>
              <a:rPr lang="en-IN" sz="810" b="1">
                <a:solidFill>
                  <a:srgbClr val="087E9A"/>
                </a:solidFill>
                <a:latin typeface="Aptos" panose="020B0004020202020204" pitchFamily="34" charset="0"/>
              </a:rPr>
              <a:t>03</a:t>
            </a:r>
          </a:p>
        </p:txBody>
      </p:sp>
      <p:sp>
        <p:nvSpPr>
          <p:cNvPr id="19" name="TextBox 18">
            <a:extLst>
              <a:ext uri="{FF2B5EF4-FFF2-40B4-BE49-F238E27FC236}">
                <a16:creationId xmlns:a16="http://schemas.microsoft.com/office/drawing/2014/main" id="{8D66A1B5-5CCD-5C07-6983-BBD50AE87419}"/>
              </a:ext>
            </a:extLst>
          </p:cNvPr>
          <p:cNvSpPr txBox="1">
            <a:spLocks/>
          </p:cNvSpPr>
          <p:nvPr/>
        </p:nvSpPr>
        <p:spPr>
          <a:xfrm>
            <a:off x="4743451" y="2232661"/>
            <a:ext cx="142303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Update ad hoc SQL</a:t>
            </a:r>
          </a:p>
        </p:txBody>
      </p:sp>
      <p:sp>
        <p:nvSpPr>
          <p:cNvPr id="20" name="TextBox 19">
            <a:extLst>
              <a:ext uri="{FF2B5EF4-FFF2-40B4-BE49-F238E27FC236}">
                <a16:creationId xmlns:a16="http://schemas.microsoft.com/office/drawing/2014/main" id="{4E233A6D-E55F-CA78-9385-965B520846C8}"/>
              </a:ext>
            </a:extLst>
          </p:cNvPr>
          <p:cNvSpPr txBox="1">
            <a:spLocks/>
          </p:cNvSpPr>
          <p:nvPr/>
        </p:nvSpPr>
        <p:spPr>
          <a:xfrm>
            <a:off x="6295072" y="2121218"/>
            <a:ext cx="171450" cy="145424"/>
          </a:xfrm>
          <a:prstGeom prst="rect">
            <a:avLst/>
          </a:prstGeom>
          <a:noFill/>
        </p:spPr>
        <p:txBody>
          <a:bodyPr vert="horz" wrap="square" lIns="0" tIns="0" rIns="0" bIns="0" rtlCol="0" anchor="t">
            <a:noAutofit/>
          </a:bodyPr>
          <a:lstStyle/>
          <a:p>
            <a:pPr algn="ctr"/>
            <a:r>
              <a:rPr lang="en-IN" sz="945" b="1">
                <a:solidFill>
                  <a:srgbClr val="28B8D8"/>
                </a:solidFill>
                <a:latin typeface="Aptos" panose="020B0004020202020204" pitchFamily="34" charset="0"/>
              </a:rPr>
              <a:t>&gt;</a:t>
            </a:r>
          </a:p>
        </p:txBody>
      </p:sp>
      <p:sp>
        <p:nvSpPr>
          <p:cNvPr id="21" name="Rectangle: Rounded Corners 20">
            <a:extLst>
              <a:ext uri="{FF2B5EF4-FFF2-40B4-BE49-F238E27FC236}">
                <a16:creationId xmlns:a16="http://schemas.microsoft.com/office/drawing/2014/main" id="{4F006F00-0807-AF6C-6138-384D063ED554}"/>
              </a:ext>
            </a:extLst>
          </p:cNvPr>
          <p:cNvSpPr>
            <a:spLocks/>
          </p:cNvSpPr>
          <p:nvPr/>
        </p:nvSpPr>
        <p:spPr>
          <a:xfrm>
            <a:off x="6475096" y="1838326"/>
            <a:ext cx="1663065" cy="94297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2" name="TextBox 21">
            <a:extLst>
              <a:ext uri="{FF2B5EF4-FFF2-40B4-BE49-F238E27FC236}">
                <a16:creationId xmlns:a16="http://schemas.microsoft.com/office/drawing/2014/main" id="{47DD84F0-E558-8F17-2BBF-DCA49803E28A}"/>
              </a:ext>
            </a:extLst>
          </p:cNvPr>
          <p:cNvSpPr txBox="1">
            <a:spLocks/>
          </p:cNvSpPr>
          <p:nvPr/>
        </p:nvSpPr>
        <p:spPr>
          <a:xfrm>
            <a:off x="6612256" y="1966913"/>
            <a:ext cx="360045" cy="124650"/>
          </a:xfrm>
          <a:prstGeom prst="rect">
            <a:avLst/>
          </a:prstGeom>
          <a:noFill/>
        </p:spPr>
        <p:txBody>
          <a:bodyPr vert="horz" wrap="square" lIns="0" tIns="0" rIns="0" bIns="0" rtlCol="0" anchor="t">
            <a:noAutofit/>
          </a:bodyPr>
          <a:lstStyle/>
          <a:p>
            <a:r>
              <a:rPr lang="en-IN" sz="810" b="1">
                <a:solidFill>
                  <a:srgbClr val="087E9A"/>
                </a:solidFill>
                <a:latin typeface="Aptos" panose="020B0004020202020204" pitchFamily="34" charset="0"/>
              </a:rPr>
              <a:t>04</a:t>
            </a:r>
          </a:p>
        </p:txBody>
      </p:sp>
      <p:sp>
        <p:nvSpPr>
          <p:cNvPr id="23" name="TextBox 22">
            <a:extLst>
              <a:ext uri="{FF2B5EF4-FFF2-40B4-BE49-F238E27FC236}">
                <a16:creationId xmlns:a16="http://schemas.microsoft.com/office/drawing/2014/main" id="{C4C2AD39-7066-7071-9FC8-C3AE0B9DCD17}"/>
              </a:ext>
            </a:extLst>
          </p:cNvPr>
          <p:cNvSpPr txBox="1">
            <a:spLocks/>
          </p:cNvSpPr>
          <p:nvPr/>
        </p:nvSpPr>
        <p:spPr>
          <a:xfrm>
            <a:off x="6612256" y="2232661"/>
            <a:ext cx="142303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Seek approval</a:t>
            </a:r>
          </a:p>
        </p:txBody>
      </p:sp>
      <p:sp>
        <p:nvSpPr>
          <p:cNvPr id="24" name="Rectangle: Rounded Corners 23">
            <a:extLst>
              <a:ext uri="{FF2B5EF4-FFF2-40B4-BE49-F238E27FC236}">
                <a16:creationId xmlns:a16="http://schemas.microsoft.com/office/drawing/2014/main" id="{4C02AFCE-FF81-57AC-72EF-2CE16F7BADF5}"/>
              </a:ext>
            </a:extLst>
          </p:cNvPr>
          <p:cNvSpPr>
            <a:spLocks/>
          </p:cNvSpPr>
          <p:nvPr/>
        </p:nvSpPr>
        <p:spPr>
          <a:xfrm>
            <a:off x="868681" y="3124200"/>
            <a:ext cx="3514725" cy="113157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6" name="TextBox 25">
            <a:extLst>
              <a:ext uri="{FF2B5EF4-FFF2-40B4-BE49-F238E27FC236}">
                <a16:creationId xmlns:a16="http://schemas.microsoft.com/office/drawing/2014/main" id="{E98A6B5D-97A9-12B2-5233-45F56B7031BA}"/>
              </a:ext>
            </a:extLst>
          </p:cNvPr>
          <p:cNvSpPr txBox="1">
            <a:spLocks/>
          </p:cNvSpPr>
          <p:nvPr/>
        </p:nvSpPr>
        <p:spPr>
          <a:xfrm>
            <a:off x="1022986" y="3244216"/>
            <a:ext cx="324040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The gap</a:t>
            </a:r>
          </a:p>
        </p:txBody>
      </p:sp>
      <p:sp>
        <p:nvSpPr>
          <p:cNvPr id="27" name="TextBox 26">
            <a:extLst>
              <a:ext uri="{FF2B5EF4-FFF2-40B4-BE49-F238E27FC236}">
                <a16:creationId xmlns:a16="http://schemas.microsoft.com/office/drawing/2014/main" id="{24768DA5-45F1-5C56-6E59-C7E3B3596C61}"/>
              </a:ext>
            </a:extLst>
          </p:cNvPr>
          <p:cNvSpPr txBox="1">
            <a:spLocks/>
          </p:cNvSpPr>
          <p:nvPr/>
        </p:nvSpPr>
        <p:spPr>
          <a:xfrm>
            <a:off x="1022985" y="3535681"/>
            <a:ext cx="3223260" cy="24929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Teams can lack a reproducible before/after replay, a clear view of newly affected accounts, and a decision record tied to evidence.</a:t>
            </a:r>
            <a:endParaRPr lang="en-IN" sz="810">
              <a:solidFill>
                <a:srgbClr val="425466"/>
              </a:solidFill>
              <a:latin typeface="Aptos" panose="020B0004020202020204" pitchFamily="34" charset="0"/>
            </a:endParaRPr>
          </a:p>
        </p:txBody>
      </p:sp>
      <p:sp>
        <p:nvSpPr>
          <p:cNvPr id="28" name="Rectangle: Rounded Corners 27">
            <a:extLst>
              <a:ext uri="{FF2B5EF4-FFF2-40B4-BE49-F238E27FC236}">
                <a16:creationId xmlns:a16="http://schemas.microsoft.com/office/drawing/2014/main" id="{2491037D-626E-6B93-A036-A8A34F0EDED5}"/>
              </a:ext>
            </a:extLst>
          </p:cNvPr>
          <p:cNvSpPr>
            <a:spLocks/>
          </p:cNvSpPr>
          <p:nvPr/>
        </p:nvSpPr>
        <p:spPr>
          <a:xfrm>
            <a:off x="4572000" y="3124200"/>
            <a:ext cx="3703320" cy="113157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0" name="TextBox 29">
            <a:extLst>
              <a:ext uri="{FF2B5EF4-FFF2-40B4-BE49-F238E27FC236}">
                <a16:creationId xmlns:a16="http://schemas.microsoft.com/office/drawing/2014/main" id="{46BB8502-F1E3-E0D4-9AC6-C905A75B8CCE}"/>
              </a:ext>
            </a:extLst>
          </p:cNvPr>
          <p:cNvSpPr txBox="1">
            <a:spLocks/>
          </p:cNvSpPr>
          <p:nvPr/>
        </p:nvSpPr>
        <p:spPr>
          <a:xfrm>
            <a:off x="4726305" y="3244216"/>
            <a:ext cx="3429000"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The question</a:t>
            </a:r>
          </a:p>
        </p:txBody>
      </p:sp>
      <p:sp>
        <p:nvSpPr>
          <p:cNvPr id="31" name="TextBox 30">
            <a:extLst>
              <a:ext uri="{FF2B5EF4-FFF2-40B4-BE49-F238E27FC236}">
                <a16:creationId xmlns:a16="http://schemas.microsoft.com/office/drawing/2014/main" id="{69FED59E-57F4-D68D-101A-70C3B8CDBC61}"/>
              </a:ext>
            </a:extLst>
          </p:cNvPr>
          <p:cNvSpPr txBox="1">
            <a:spLocks/>
          </p:cNvSpPr>
          <p:nvPr/>
        </p:nvSpPr>
        <p:spPr>
          <a:xfrm>
            <a:off x="4726306" y="3535681"/>
            <a:ext cx="3411855" cy="24929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Before changing a control: how many alerts and accounts change, which control is affected, and who approved the proposal?</a:t>
            </a:r>
            <a:endParaRPr lang="en-IN" sz="810">
              <a:solidFill>
                <a:srgbClr val="425466"/>
              </a:solidFill>
              <a:latin typeface="Aptos" panose="020B0004020202020204" pitchFamily="34" charset="0"/>
            </a:endParaRPr>
          </a:p>
        </p:txBody>
      </p:sp>
    </p:spTree>
    <p:extLst>
      <p:ext uri="{BB962C8B-B14F-4D97-AF65-F5344CB8AC3E}">
        <p14:creationId xmlns:p14="http://schemas.microsoft.com/office/powerpoint/2010/main" val="3770255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31" name="TransferTemplateBackground" title="Framewsxexexe 233.png">
            <a:extLst>
              <a:ext uri="{FF2B5EF4-FFF2-40B4-BE49-F238E27FC236}">
                <a16:creationId xmlns:a16="http://schemas.microsoft.com/office/drawing/2014/main" id="{CB351A37-078E-BA04-023B-D49E5A4414CD}"/>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0" name="Rectangle 29">
            <a:extLst>
              <a:ext uri="{FF2B5EF4-FFF2-40B4-BE49-F238E27FC236}">
                <a16:creationId xmlns:a16="http://schemas.microsoft.com/office/drawing/2014/main" id="{BF9A9D4A-E8A3-458D-70FD-7613A62137E7}"/>
              </a:ext>
            </a:extLst>
          </p:cNvPr>
          <p:cNvSpPr>
            <a:spLocks/>
          </p:cNvSpPr>
          <p:nvPr/>
        </p:nvSpPr>
        <p:spPr>
          <a:xfrm>
            <a:off x="457200" y="489396"/>
            <a:ext cx="8229600" cy="4520753"/>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580EEA91-A4EA-3C67-F117-D70A234B3A4E}"/>
              </a:ext>
            </a:extLst>
          </p:cNvPr>
          <p:cNvSpPr>
            <a:spLocks/>
          </p:cNvSpPr>
          <p:nvPr/>
        </p:nvSpPr>
        <p:spPr>
          <a:xfrm>
            <a:off x="582931" y="609524"/>
            <a:ext cx="8103870" cy="1763077"/>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D96F2041-19C0-F6AF-916D-43362606A94E}"/>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269826C3-4651-A5F4-F756-0896A0F650EA}"/>
              </a:ext>
            </a:extLst>
          </p:cNvPr>
          <p:cNvSpPr txBox="1">
            <a:spLocks/>
          </p:cNvSpPr>
          <p:nvPr/>
        </p:nvSpPr>
        <p:spPr>
          <a:xfrm>
            <a:off x="868680" y="843915"/>
            <a:ext cx="7372350" cy="290849"/>
          </a:xfrm>
          <a:prstGeom prst="rect">
            <a:avLst/>
          </a:prstGeom>
          <a:noFill/>
        </p:spPr>
        <p:txBody>
          <a:bodyPr vert="horz" wrap="square" lIns="0" tIns="0" rIns="0" bIns="0" rtlCol="0" anchor="t">
            <a:noAutofit/>
          </a:bodyPr>
          <a:lstStyle/>
          <a:p>
            <a:r>
              <a:rPr lang="en-US" sz="1890" b="1">
                <a:solidFill>
                  <a:srgbClr val="102A43"/>
                </a:solidFill>
                <a:latin typeface="Aptos" panose="020B0004020202020204" pitchFamily="34" charset="0"/>
              </a:rPr>
              <a:t>One governed workflow, five visible stages</a:t>
            </a:r>
            <a:endParaRPr lang="en-IN" sz="1890" b="1">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815F1BB0-0B80-0FAE-39C1-D031E44A363C}"/>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8" name="Rectangle: Rounded Corners 7">
            <a:extLst>
              <a:ext uri="{FF2B5EF4-FFF2-40B4-BE49-F238E27FC236}">
                <a16:creationId xmlns:a16="http://schemas.microsoft.com/office/drawing/2014/main" id="{A190FE20-0EE4-FFB1-066C-1BB5A0BB92D5}"/>
              </a:ext>
            </a:extLst>
          </p:cNvPr>
          <p:cNvSpPr>
            <a:spLocks/>
          </p:cNvSpPr>
          <p:nvPr/>
        </p:nvSpPr>
        <p:spPr>
          <a:xfrm>
            <a:off x="868680" y="1666876"/>
            <a:ext cx="1337310" cy="169735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9" name="TextBox 8">
            <a:extLst>
              <a:ext uri="{FF2B5EF4-FFF2-40B4-BE49-F238E27FC236}">
                <a16:creationId xmlns:a16="http://schemas.microsoft.com/office/drawing/2014/main" id="{1BF1CFC1-5010-D560-56EE-B9A20B74479A}"/>
              </a:ext>
            </a:extLst>
          </p:cNvPr>
          <p:cNvSpPr txBox="1">
            <a:spLocks/>
          </p:cNvSpPr>
          <p:nvPr/>
        </p:nvSpPr>
        <p:spPr>
          <a:xfrm>
            <a:off x="988696" y="1821180"/>
            <a:ext cx="111442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01</a:t>
            </a:r>
          </a:p>
        </p:txBody>
      </p:sp>
      <p:sp>
        <p:nvSpPr>
          <p:cNvPr id="10" name="TextBox 9">
            <a:extLst>
              <a:ext uri="{FF2B5EF4-FFF2-40B4-BE49-F238E27FC236}">
                <a16:creationId xmlns:a16="http://schemas.microsoft.com/office/drawing/2014/main" id="{2333EAD3-C338-98E7-5C55-C91C079D140B}"/>
              </a:ext>
            </a:extLst>
          </p:cNvPr>
          <p:cNvSpPr txBox="1">
            <a:spLocks/>
          </p:cNvSpPr>
          <p:nvPr/>
        </p:nvSpPr>
        <p:spPr>
          <a:xfrm>
            <a:off x="988696" y="2138364"/>
            <a:ext cx="111442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EXTRACT</a:t>
            </a:r>
          </a:p>
        </p:txBody>
      </p:sp>
      <p:sp>
        <p:nvSpPr>
          <p:cNvPr id="11" name="TextBox 10">
            <a:extLst>
              <a:ext uri="{FF2B5EF4-FFF2-40B4-BE49-F238E27FC236}">
                <a16:creationId xmlns:a16="http://schemas.microsoft.com/office/drawing/2014/main" id="{8D794D23-40CB-176F-1F62-B148C116AE2C}"/>
              </a:ext>
            </a:extLst>
          </p:cNvPr>
          <p:cNvSpPr txBox="1">
            <a:spLocks/>
          </p:cNvSpPr>
          <p:nvPr/>
        </p:nvSpPr>
        <p:spPr>
          <a:xfrm>
            <a:off x="988696" y="2506980"/>
            <a:ext cx="1114425" cy="342979"/>
          </a:xfrm>
          <a:prstGeom prst="rect">
            <a:avLst/>
          </a:prstGeom>
          <a:noFill/>
        </p:spPr>
        <p:txBody>
          <a:bodyPr vert="horz" wrap="square" lIns="0" tIns="0" rIns="0" bIns="0" rtlCol="0" anchor="t">
            <a:noAutofit/>
          </a:bodyPr>
          <a:lstStyle/>
          <a:p>
            <a:r>
              <a:rPr lang="en-US" sz="743">
                <a:solidFill>
                  <a:srgbClr val="425466"/>
                </a:solidFill>
                <a:latin typeface="Aptos" panose="020B0004020202020204" pitchFamily="34" charset="0"/>
              </a:rPr>
              <a:t>Cortex proposes typed fields from fictional policy text.</a:t>
            </a:r>
            <a:endParaRPr lang="en-IN" sz="743">
              <a:solidFill>
                <a:srgbClr val="425466"/>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711F6C49-2F5D-66AE-D05F-076B51B3B8D1}"/>
              </a:ext>
            </a:extLst>
          </p:cNvPr>
          <p:cNvSpPr>
            <a:spLocks/>
          </p:cNvSpPr>
          <p:nvPr/>
        </p:nvSpPr>
        <p:spPr>
          <a:xfrm>
            <a:off x="2386013" y="1666876"/>
            <a:ext cx="1337310" cy="169735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extBox 12">
            <a:extLst>
              <a:ext uri="{FF2B5EF4-FFF2-40B4-BE49-F238E27FC236}">
                <a16:creationId xmlns:a16="http://schemas.microsoft.com/office/drawing/2014/main" id="{C29A0137-AA1C-3D92-1B8E-5A921BCAE0BC}"/>
              </a:ext>
            </a:extLst>
          </p:cNvPr>
          <p:cNvSpPr txBox="1">
            <a:spLocks/>
          </p:cNvSpPr>
          <p:nvPr/>
        </p:nvSpPr>
        <p:spPr>
          <a:xfrm>
            <a:off x="2506028" y="1821180"/>
            <a:ext cx="111442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02</a:t>
            </a:r>
          </a:p>
        </p:txBody>
      </p:sp>
      <p:sp>
        <p:nvSpPr>
          <p:cNvPr id="14" name="TextBox 13">
            <a:extLst>
              <a:ext uri="{FF2B5EF4-FFF2-40B4-BE49-F238E27FC236}">
                <a16:creationId xmlns:a16="http://schemas.microsoft.com/office/drawing/2014/main" id="{8B6F800B-84E2-69AA-36DE-45DF4EB3D537}"/>
              </a:ext>
            </a:extLst>
          </p:cNvPr>
          <p:cNvSpPr txBox="1">
            <a:spLocks/>
          </p:cNvSpPr>
          <p:nvPr/>
        </p:nvSpPr>
        <p:spPr>
          <a:xfrm>
            <a:off x="2506028" y="2138364"/>
            <a:ext cx="111442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MAP</a:t>
            </a:r>
          </a:p>
        </p:txBody>
      </p:sp>
      <p:sp>
        <p:nvSpPr>
          <p:cNvPr id="15" name="TextBox 14">
            <a:extLst>
              <a:ext uri="{FF2B5EF4-FFF2-40B4-BE49-F238E27FC236}">
                <a16:creationId xmlns:a16="http://schemas.microsoft.com/office/drawing/2014/main" id="{28E148EB-762E-66D4-7855-03DD12F87EF7}"/>
              </a:ext>
            </a:extLst>
          </p:cNvPr>
          <p:cNvSpPr txBox="1">
            <a:spLocks/>
          </p:cNvSpPr>
          <p:nvPr/>
        </p:nvSpPr>
        <p:spPr>
          <a:xfrm>
            <a:off x="2506028" y="2506980"/>
            <a:ext cx="1114425" cy="342979"/>
          </a:xfrm>
          <a:prstGeom prst="rect">
            <a:avLst/>
          </a:prstGeom>
          <a:noFill/>
        </p:spPr>
        <p:txBody>
          <a:bodyPr vert="horz" wrap="square" lIns="0" tIns="0" rIns="0" bIns="0" rtlCol="0" anchor="t">
            <a:noAutofit/>
          </a:bodyPr>
          <a:lstStyle/>
          <a:p>
            <a:r>
              <a:rPr lang="en-US" sz="743">
                <a:solidFill>
                  <a:srgbClr val="425466"/>
                </a:solidFill>
                <a:latin typeface="Aptos" panose="020B0004020202020204" pitchFamily="34" charset="0"/>
              </a:rPr>
              <a:t>Resolve the proposal to AML_THRESHOLD_10L metadata.</a:t>
            </a:r>
            <a:endParaRPr lang="en-IN" sz="743">
              <a:solidFill>
                <a:srgbClr val="425466"/>
              </a:solidFill>
              <a:latin typeface="Aptos" panose="020B0004020202020204" pitchFamily="34" charset="0"/>
            </a:endParaRPr>
          </a:p>
        </p:txBody>
      </p:sp>
      <p:sp>
        <p:nvSpPr>
          <p:cNvPr id="16" name="Rectangle: Rounded Corners 15">
            <a:extLst>
              <a:ext uri="{FF2B5EF4-FFF2-40B4-BE49-F238E27FC236}">
                <a16:creationId xmlns:a16="http://schemas.microsoft.com/office/drawing/2014/main" id="{2EB7BC89-772C-03B5-1D9D-D187DA877D9B}"/>
              </a:ext>
            </a:extLst>
          </p:cNvPr>
          <p:cNvSpPr>
            <a:spLocks/>
          </p:cNvSpPr>
          <p:nvPr/>
        </p:nvSpPr>
        <p:spPr>
          <a:xfrm>
            <a:off x="3903345" y="1666876"/>
            <a:ext cx="1337310" cy="169735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7" name="TextBox 16">
            <a:extLst>
              <a:ext uri="{FF2B5EF4-FFF2-40B4-BE49-F238E27FC236}">
                <a16:creationId xmlns:a16="http://schemas.microsoft.com/office/drawing/2014/main" id="{BF3EEB1D-F2B1-9679-A1C3-4A10FD368FBC}"/>
              </a:ext>
            </a:extLst>
          </p:cNvPr>
          <p:cNvSpPr txBox="1">
            <a:spLocks/>
          </p:cNvSpPr>
          <p:nvPr/>
        </p:nvSpPr>
        <p:spPr>
          <a:xfrm>
            <a:off x="4023361" y="1821180"/>
            <a:ext cx="111442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03</a:t>
            </a:r>
          </a:p>
        </p:txBody>
      </p:sp>
      <p:sp>
        <p:nvSpPr>
          <p:cNvPr id="18" name="TextBox 17">
            <a:extLst>
              <a:ext uri="{FF2B5EF4-FFF2-40B4-BE49-F238E27FC236}">
                <a16:creationId xmlns:a16="http://schemas.microsoft.com/office/drawing/2014/main" id="{E61F8B15-A3E8-8666-E173-68AE608B7148}"/>
              </a:ext>
            </a:extLst>
          </p:cNvPr>
          <p:cNvSpPr txBox="1">
            <a:spLocks/>
          </p:cNvSpPr>
          <p:nvPr/>
        </p:nvSpPr>
        <p:spPr>
          <a:xfrm>
            <a:off x="4023361" y="2138364"/>
            <a:ext cx="111442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REPLAY</a:t>
            </a:r>
          </a:p>
        </p:txBody>
      </p:sp>
      <p:sp>
        <p:nvSpPr>
          <p:cNvPr id="19" name="TextBox 18">
            <a:extLst>
              <a:ext uri="{FF2B5EF4-FFF2-40B4-BE49-F238E27FC236}">
                <a16:creationId xmlns:a16="http://schemas.microsoft.com/office/drawing/2014/main" id="{1C179221-B6A8-636F-4D59-B4115487C49B}"/>
              </a:ext>
            </a:extLst>
          </p:cNvPr>
          <p:cNvSpPr txBox="1">
            <a:spLocks/>
          </p:cNvSpPr>
          <p:nvPr/>
        </p:nvSpPr>
        <p:spPr>
          <a:xfrm>
            <a:off x="4023361" y="2506980"/>
            <a:ext cx="1114425" cy="342979"/>
          </a:xfrm>
          <a:prstGeom prst="rect">
            <a:avLst/>
          </a:prstGeom>
          <a:noFill/>
        </p:spPr>
        <p:txBody>
          <a:bodyPr vert="horz" wrap="square" lIns="0" tIns="0" rIns="0" bIns="0" rtlCol="0" anchor="t">
            <a:noAutofit/>
          </a:bodyPr>
          <a:lstStyle/>
          <a:p>
            <a:r>
              <a:rPr lang="en-US" sz="706">
                <a:solidFill>
                  <a:srgbClr val="425466"/>
                </a:solidFill>
                <a:latin typeface="Aptos" panose="020B0004020202020204" pitchFamily="34" charset="0"/>
              </a:rPr>
              <a:t>Compare old and proposed thresholds on the same history.</a:t>
            </a:r>
            <a:endParaRPr lang="en-IN" sz="706">
              <a:solidFill>
                <a:srgbClr val="425466"/>
              </a:solidFill>
              <a:latin typeface="Aptos" panose="020B0004020202020204" pitchFamily="34" charset="0"/>
            </a:endParaRPr>
          </a:p>
        </p:txBody>
      </p:sp>
      <p:sp>
        <p:nvSpPr>
          <p:cNvPr id="20" name="Rectangle: Rounded Corners 19">
            <a:extLst>
              <a:ext uri="{FF2B5EF4-FFF2-40B4-BE49-F238E27FC236}">
                <a16:creationId xmlns:a16="http://schemas.microsoft.com/office/drawing/2014/main" id="{39DC573C-6C5D-3A68-4F1D-7FF6A8DA3B2E}"/>
              </a:ext>
            </a:extLst>
          </p:cNvPr>
          <p:cNvSpPr>
            <a:spLocks/>
          </p:cNvSpPr>
          <p:nvPr/>
        </p:nvSpPr>
        <p:spPr>
          <a:xfrm>
            <a:off x="5420678" y="1666876"/>
            <a:ext cx="1337310" cy="169735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TextBox 20">
            <a:extLst>
              <a:ext uri="{FF2B5EF4-FFF2-40B4-BE49-F238E27FC236}">
                <a16:creationId xmlns:a16="http://schemas.microsoft.com/office/drawing/2014/main" id="{CF876F94-AC3F-2332-72AF-91AD56CAC945}"/>
              </a:ext>
            </a:extLst>
          </p:cNvPr>
          <p:cNvSpPr txBox="1">
            <a:spLocks/>
          </p:cNvSpPr>
          <p:nvPr/>
        </p:nvSpPr>
        <p:spPr>
          <a:xfrm>
            <a:off x="5540693" y="1821180"/>
            <a:ext cx="111442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04</a:t>
            </a:r>
          </a:p>
        </p:txBody>
      </p:sp>
      <p:sp>
        <p:nvSpPr>
          <p:cNvPr id="22" name="TextBox 21">
            <a:extLst>
              <a:ext uri="{FF2B5EF4-FFF2-40B4-BE49-F238E27FC236}">
                <a16:creationId xmlns:a16="http://schemas.microsoft.com/office/drawing/2014/main" id="{94004FD5-6C50-97B6-92AB-739F2344CCAB}"/>
              </a:ext>
            </a:extLst>
          </p:cNvPr>
          <p:cNvSpPr txBox="1">
            <a:spLocks/>
          </p:cNvSpPr>
          <p:nvPr/>
        </p:nvSpPr>
        <p:spPr>
          <a:xfrm>
            <a:off x="5540693" y="2138364"/>
            <a:ext cx="111442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QUANTIFY</a:t>
            </a:r>
          </a:p>
        </p:txBody>
      </p:sp>
      <p:sp>
        <p:nvSpPr>
          <p:cNvPr id="23" name="TextBox 22">
            <a:extLst>
              <a:ext uri="{FF2B5EF4-FFF2-40B4-BE49-F238E27FC236}">
                <a16:creationId xmlns:a16="http://schemas.microsoft.com/office/drawing/2014/main" id="{D4302425-AC91-5809-4D84-EE2D07500269}"/>
              </a:ext>
            </a:extLst>
          </p:cNvPr>
          <p:cNvSpPr txBox="1">
            <a:spLocks/>
          </p:cNvSpPr>
          <p:nvPr/>
        </p:nvSpPr>
        <p:spPr>
          <a:xfrm>
            <a:off x="5540693" y="2506980"/>
            <a:ext cx="1114425" cy="228652"/>
          </a:xfrm>
          <a:prstGeom prst="rect">
            <a:avLst/>
          </a:prstGeom>
          <a:noFill/>
        </p:spPr>
        <p:txBody>
          <a:bodyPr vert="horz" wrap="square" lIns="0" tIns="0" rIns="0" bIns="0" rtlCol="0" anchor="t">
            <a:noAutofit/>
          </a:bodyPr>
          <a:lstStyle/>
          <a:p>
            <a:r>
              <a:rPr lang="en-US" sz="743">
                <a:solidFill>
                  <a:srgbClr val="425466"/>
                </a:solidFill>
                <a:latin typeface="Aptos" panose="020B0004020202020204" pitchFamily="34" charset="0"/>
              </a:rPr>
              <a:t>Show alert counts, change, and affected accounts.</a:t>
            </a:r>
            <a:endParaRPr lang="en-IN" sz="743">
              <a:solidFill>
                <a:srgbClr val="425466"/>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D6179D5E-2F63-68EF-3E38-FA30EC28B2E8}"/>
              </a:ext>
            </a:extLst>
          </p:cNvPr>
          <p:cNvSpPr>
            <a:spLocks/>
          </p:cNvSpPr>
          <p:nvPr/>
        </p:nvSpPr>
        <p:spPr>
          <a:xfrm>
            <a:off x="6938010" y="1666876"/>
            <a:ext cx="1337310" cy="169735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5" name="TextBox 24">
            <a:extLst>
              <a:ext uri="{FF2B5EF4-FFF2-40B4-BE49-F238E27FC236}">
                <a16:creationId xmlns:a16="http://schemas.microsoft.com/office/drawing/2014/main" id="{7E508A87-C7E4-30E4-F1EE-2D36812651CD}"/>
              </a:ext>
            </a:extLst>
          </p:cNvPr>
          <p:cNvSpPr txBox="1">
            <a:spLocks/>
          </p:cNvSpPr>
          <p:nvPr/>
        </p:nvSpPr>
        <p:spPr>
          <a:xfrm>
            <a:off x="7058026" y="1821180"/>
            <a:ext cx="111442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05</a:t>
            </a:r>
          </a:p>
        </p:txBody>
      </p:sp>
      <p:sp>
        <p:nvSpPr>
          <p:cNvPr id="26" name="TextBox 25">
            <a:extLst>
              <a:ext uri="{FF2B5EF4-FFF2-40B4-BE49-F238E27FC236}">
                <a16:creationId xmlns:a16="http://schemas.microsoft.com/office/drawing/2014/main" id="{00655BBF-D86A-F741-EAAE-50D1C1AA8F8A}"/>
              </a:ext>
            </a:extLst>
          </p:cNvPr>
          <p:cNvSpPr txBox="1">
            <a:spLocks/>
          </p:cNvSpPr>
          <p:nvPr/>
        </p:nvSpPr>
        <p:spPr>
          <a:xfrm>
            <a:off x="7058026" y="2138364"/>
            <a:ext cx="1114425" cy="166199"/>
          </a:xfrm>
          <a:prstGeom prst="rect">
            <a:avLst/>
          </a:prstGeom>
          <a:noFill/>
        </p:spPr>
        <p:txBody>
          <a:bodyPr vert="horz" wrap="square" lIns="0" tIns="0" rIns="0" bIns="0" rtlCol="0" anchor="t">
            <a:noAutofit/>
          </a:bodyPr>
          <a:lstStyle/>
          <a:p>
            <a:r>
              <a:rPr lang="en-IN" sz="1080" b="1">
                <a:solidFill>
                  <a:srgbClr val="102A43"/>
                </a:solidFill>
                <a:latin typeface="Aptos" panose="020B0004020202020204" pitchFamily="34" charset="0"/>
              </a:rPr>
              <a:t>REVIEW</a:t>
            </a:r>
          </a:p>
        </p:txBody>
      </p:sp>
      <p:sp>
        <p:nvSpPr>
          <p:cNvPr id="27" name="TextBox 26">
            <a:extLst>
              <a:ext uri="{FF2B5EF4-FFF2-40B4-BE49-F238E27FC236}">
                <a16:creationId xmlns:a16="http://schemas.microsoft.com/office/drawing/2014/main" id="{BB1CFD8E-A304-7573-C2CA-C60B5E8DA7E5}"/>
              </a:ext>
            </a:extLst>
          </p:cNvPr>
          <p:cNvSpPr txBox="1">
            <a:spLocks/>
          </p:cNvSpPr>
          <p:nvPr/>
        </p:nvSpPr>
        <p:spPr>
          <a:xfrm>
            <a:off x="7058026" y="2506980"/>
            <a:ext cx="1114425" cy="228652"/>
          </a:xfrm>
          <a:prstGeom prst="rect">
            <a:avLst/>
          </a:prstGeom>
          <a:noFill/>
        </p:spPr>
        <p:txBody>
          <a:bodyPr vert="horz" wrap="square" lIns="0" tIns="0" rIns="0" bIns="0" rtlCol="0" anchor="t">
            <a:noAutofit/>
          </a:bodyPr>
          <a:lstStyle/>
          <a:p>
            <a:r>
              <a:rPr lang="en-US" sz="743">
                <a:solidFill>
                  <a:srgbClr val="425466"/>
                </a:solidFill>
                <a:latin typeface="Aptos" panose="020B0004020202020204" pitchFamily="34" charset="0"/>
              </a:rPr>
              <a:t>Record approve/reject with a reviewer comment.</a:t>
            </a:r>
            <a:endParaRPr lang="en-IN" sz="743">
              <a:solidFill>
                <a:srgbClr val="425466"/>
              </a:solidFill>
              <a:latin typeface="Aptos" panose="020B0004020202020204" pitchFamily="34" charset="0"/>
            </a:endParaRPr>
          </a:p>
        </p:txBody>
      </p:sp>
      <p:sp>
        <p:nvSpPr>
          <p:cNvPr id="28" name="TextBox 27">
            <a:extLst>
              <a:ext uri="{FF2B5EF4-FFF2-40B4-BE49-F238E27FC236}">
                <a16:creationId xmlns:a16="http://schemas.microsoft.com/office/drawing/2014/main" id="{2B5C7E89-1F93-7B7D-3107-16DC94D9517B}"/>
              </a:ext>
            </a:extLst>
          </p:cNvPr>
          <p:cNvSpPr txBox="1">
            <a:spLocks/>
          </p:cNvSpPr>
          <p:nvPr/>
        </p:nvSpPr>
        <p:spPr>
          <a:xfrm>
            <a:off x="868680" y="3715703"/>
            <a:ext cx="7372350" cy="228524"/>
          </a:xfrm>
          <a:prstGeom prst="rect">
            <a:avLst/>
          </a:prstGeom>
          <a:noFill/>
        </p:spPr>
        <p:txBody>
          <a:bodyPr vert="horz" wrap="square" lIns="0" tIns="0" rIns="0" bIns="0" rtlCol="0" anchor="t">
            <a:noAutofit/>
          </a:bodyPr>
          <a:lstStyle/>
          <a:p>
            <a:pPr algn="ctr"/>
            <a:r>
              <a:rPr lang="en-US" sz="1485" b="1">
                <a:solidFill>
                  <a:srgbClr val="087E9A"/>
                </a:solidFill>
                <a:latin typeface="Aptos" panose="020B0004020202020204" pitchFamily="34" charset="0"/>
              </a:rPr>
              <a:t>AI proposes. Deterministic SQL measures. A human decides.</a:t>
            </a:r>
            <a:endParaRPr lang="en-IN" sz="1485" b="1">
              <a:solidFill>
                <a:srgbClr val="087E9A"/>
              </a:solidFill>
              <a:latin typeface="Aptos" panose="020B0004020202020204" pitchFamily="34" charset="0"/>
            </a:endParaRPr>
          </a:p>
        </p:txBody>
      </p:sp>
      <p:sp>
        <p:nvSpPr>
          <p:cNvPr id="29" name="TextBox 28">
            <a:extLst>
              <a:ext uri="{FF2B5EF4-FFF2-40B4-BE49-F238E27FC236}">
                <a16:creationId xmlns:a16="http://schemas.microsoft.com/office/drawing/2014/main" id="{3AF9C0E9-6A36-E710-19EC-EA5D99283B01}"/>
              </a:ext>
            </a:extLst>
          </p:cNvPr>
          <p:cNvSpPr txBox="1">
            <a:spLocks/>
          </p:cNvSpPr>
          <p:nvPr/>
        </p:nvSpPr>
        <p:spPr>
          <a:xfrm>
            <a:off x="1468755" y="4135756"/>
            <a:ext cx="6172200" cy="124650"/>
          </a:xfrm>
          <a:prstGeom prst="rect">
            <a:avLst/>
          </a:prstGeom>
          <a:noFill/>
        </p:spPr>
        <p:txBody>
          <a:bodyPr vert="horz" wrap="square" lIns="0" tIns="0" rIns="0" bIns="0" rtlCol="0" anchor="t">
            <a:noAutofit/>
          </a:bodyPr>
          <a:lstStyle/>
          <a:p>
            <a:pPr algn="ctr"/>
            <a:r>
              <a:rPr lang="en-US" sz="810">
                <a:solidFill>
                  <a:srgbClr val="425466"/>
                </a:solidFill>
                <a:latin typeface="Aptos" panose="020B0004020202020204" pitchFamily="34" charset="0"/>
              </a:rPr>
              <a:t>The Streamlit prototype exposes Policy Extraction, Run Backtest, Run History, Review &amp; Approve, and Ask Analyst.</a:t>
            </a:r>
            <a:endParaRPr lang="en-IN" sz="810">
              <a:solidFill>
                <a:srgbClr val="425466"/>
              </a:solidFill>
              <a:latin typeface="Aptos" panose="020B0004020202020204" pitchFamily="34" charset="0"/>
            </a:endParaRPr>
          </a:p>
        </p:txBody>
      </p:sp>
    </p:spTree>
    <p:extLst>
      <p:ext uri="{BB962C8B-B14F-4D97-AF65-F5344CB8AC3E}">
        <p14:creationId xmlns:p14="http://schemas.microsoft.com/office/powerpoint/2010/main" val="3306937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1" name="TransferTemplateBackground" title="Framewsxexexe 233.png">
            <a:extLst>
              <a:ext uri="{FF2B5EF4-FFF2-40B4-BE49-F238E27FC236}">
                <a16:creationId xmlns:a16="http://schemas.microsoft.com/office/drawing/2014/main" id="{F9ED334D-C799-D4A9-A9E4-261152FA984E}"/>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 name="Rectangle 7">
            <a:extLst>
              <a:ext uri="{FF2B5EF4-FFF2-40B4-BE49-F238E27FC236}">
                <a16:creationId xmlns:a16="http://schemas.microsoft.com/office/drawing/2014/main" id="{B804EFFA-3C51-C676-A17B-EEDAB18A6602}"/>
              </a:ext>
            </a:extLst>
          </p:cNvPr>
          <p:cNvSpPr>
            <a:spLocks/>
          </p:cNvSpPr>
          <p:nvPr/>
        </p:nvSpPr>
        <p:spPr>
          <a:xfrm>
            <a:off x="457200" y="482958"/>
            <a:ext cx="8229600" cy="4527191"/>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6A45F4CB-5E7A-D14D-A5EF-6E0B25FE431B}"/>
              </a:ext>
            </a:extLst>
          </p:cNvPr>
          <p:cNvSpPr>
            <a:spLocks/>
          </p:cNvSpPr>
          <p:nvPr/>
        </p:nvSpPr>
        <p:spPr>
          <a:xfrm>
            <a:off x="588646" y="724905"/>
            <a:ext cx="8098155" cy="2047515"/>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620C23E0-23E7-E8E8-9B96-AB687E6DA960}"/>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8EE13956-79C3-D13C-4AF5-4AC9D6D4C3B9}"/>
              </a:ext>
            </a:extLst>
          </p:cNvPr>
          <p:cNvSpPr txBox="1">
            <a:spLocks/>
          </p:cNvSpPr>
          <p:nvPr/>
        </p:nvSpPr>
        <p:spPr>
          <a:xfrm>
            <a:off x="868680" y="843915"/>
            <a:ext cx="7372350" cy="290849"/>
          </a:xfrm>
          <a:prstGeom prst="rect">
            <a:avLst/>
          </a:prstGeom>
          <a:noFill/>
        </p:spPr>
        <p:txBody>
          <a:bodyPr vert="horz" wrap="square" lIns="0" tIns="0" rIns="0" bIns="0" rtlCol="0" anchor="t">
            <a:noAutofit/>
          </a:bodyPr>
          <a:lstStyle/>
          <a:p>
            <a:r>
              <a:rPr lang="en-US" sz="1890" b="1" dirty="0">
                <a:solidFill>
                  <a:srgbClr val="102A43"/>
                </a:solidFill>
                <a:latin typeface="Aptos" panose="020B0004020202020204" pitchFamily="34" charset="0"/>
              </a:rPr>
              <a:t>A Snowflake-native prototype with explicit boundaries</a:t>
            </a:r>
            <a:endParaRPr lang="en-IN" sz="1890" b="1" dirty="0">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99B23BFF-0632-0BEE-B174-E18EEDF93D24}"/>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9" name="Picture 8">
            <a:extLst>
              <a:ext uri="{FF2B5EF4-FFF2-40B4-BE49-F238E27FC236}">
                <a16:creationId xmlns:a16="http://schemas.microsoft.com/office/drawing/2014/main" id="{0CF4A2B7-36B3-29DB-B448-C879BBF073F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8411" y="1426846"/>
            <a:ext cx="5518597" cy="3233696"/>
          </a:xfrm>
          <a:prstGeom prst="rect">
            <a:avLst/>
          </a:prstGeom>
        </p:spPr>
      </p:pic>
      <p:sp>
        <p:nvSpPr>
          <p:cNvPr id="10" name="Rectangle: Rounded Corners 9">
            <a:extLst>
              <a:ext uri="{FF2B5EF4-FFF2-40B4-BE49-F238E27FC236}">
                <a16:creationId xmlns:a16="http://schemas.microsoft.com/office/drawing/2014/main" id="{DCCE4543-F9DF-7F0C-23B1-8852E9371761}"/>
              </a:ext>
            </a:extLst>
          </p:cNvPr>
          <p:cNvSpPr>
            <a:spLocks/>
          </p:cNvSpPr>
          <p:nvPr/>
        </p:nvSpPr>
        <p:spPr>
          <a:xfrm>
            <a:off x="5892166" y="1426846"/>
            <a:ext cx="2383155" cy="80581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2" name="TextBox 11">
            <a:extLst>
              <a:ext uri="{FF2B5EF4-FFF2-40B4-BE49-F238E27FC236}">
                <a16:creationId xmlns:a16="http://schemas.microsoft.com/office/drawing/2014/main" id="{FE7DDFBD-D07B-9038-0102-A5F1FEBC16EE}"/>
              </a:ext>
            </a:extLst>
          </p:cNvPr>
          <p:cNvSpPr txBox="1">
            <a:spLocks/>
          </p:cNvSpPr>
          <p:nvPr/>
        </p:nvSpPr>
        <p:spPr>
          <a:xfrm>
            <a:off x="6046471" y="1546861"/>
            <a:ext cx="210883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App</a:t>
            </a:r>
          </a:p>
        </p:txBody>
      </p:sp>
      <p:sp>
        <p:nvSpPr>
          <p:cNvPr id="13" name="TextBox 12">
            <a:extLst>
              <a:ext uri="{FF2B5EF4-FFF2-40B4-BE49-F238E27FC236}">
                <a16:creationId xmlns:a16="http://schemas.microsoft.com/office/drawing/2014/main" id="{2ACED2FA-E949-331E-687C-A241EF0CA2EF}"/>
              </a:ext>
            </a:extLst>
          </p:cNvPr>
          <p:cNvSpPr txBox="1">
            <a:spLocks/>
          </p:cNvSpPr>
          <p:nvPr/>
        </p:nvSpPr>
        <p:spPr>
          <a:xfrm>
            <a:off x="6046470" y="1838326"/>
            <a:ext cx="2091690" cy="373949"/>
          </a:xfrm>
          <a:prstGeom prst="rect">
            <a:avLst/>
          </a:prstGeom>
          <a:noFill/>
        </p:spPr>
        <p:txBody>
          <a:bodyPr vert="horz" wrap="square" lIns="0" tIns="0" rIns="0" bIns="0" rtlCol="0" anchor="t">
            <a:noAutofit/>
          </a:bodyPr>
          <a:lstStyle/>
          <a:p>
            <a:r>
              <a:rPr lang="en-IN" sz="810" dirty="0">
                <a:solidFill>
                  <a:srgbClr val="425466"/>
                </a:solidFill>
                <a:latin typeface="Aptos" panose="020B0004020202020204" pitchFamily="34" charset="0"/>
              </a:rPr>
              <a:t>Streamlit in Snowflake: REGCHANGE_DB.REGCHANGE.REGCHANGE_APP</a:t>
            </a:r>
          </a:p>
        </p:txBody>
      </p:sp>
      <p:sp>
        <p:nvSpPr>
          <p:cNvPr id="14" name="Rectangle: Rounded Corners 13">
            <a:extLst>
              <a:ext uri="{FF2B5EF4-FFF2-40B4-BE49-F238E27FC236}">
                <a16:creationId xmlns:a16="http://schemas.microsoft.com/office/drawing/2014/main" id="{AE767D55-A685-8C1C-2AF9-ADC55E86461D}"/>
              </a:ext>
            </a:extLst>
          </p:cNvPr>
          <p:cNvSpPr>
            <a:spLocks/>
          </p:cNvSpPr>
          <p:nvPr/>
        </p:nvSpPr>
        <p:spPr>
          <a:xfrm>
            <a:off x="5892166" y="2352676"/>
            <a:ext cx="2383155" cy="80581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6" name="TextBox 15">
            <a:extLst>
              <a:ext uri="{FF2B5EF4-FFF2-40B4-BE49-F238E27FC236}">
                <a16:creationId xmlns:a16="http://schemas.microsoft.com/office/drawing/2014/main" id="{A9AE32F0-4B8C-7329-DCF9-7FF59D82FAE0}"/>
              </a:ext>
            </a:extLst>
          </p:cNvPr>
          <p:cNvSpPr txBox="1">
            <a:spLocks/>
          </p:cNvSpPr>
          <p:nvPr/>
        </p:nvSpPr>
        <p:spPr>
          <a:xfrm>
            <a:off x="6046471" y="2472691"/>
            <a:ext cx="210883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Data + replay</a:t>
            </a:r>
          </a:p>
        </p:txBody>
      </p:sp>
      <p:sp>
        <p:nvSpPr>
          <p:cNvPr id="17" name="TextBox 16">
            <a:extLst>
              <a:ext uri="{FF2B5EF4-FFF2-40B4-BE49-F238E27FC236}">
                <a16:creationId xmlns:a16="http://schemas.microsoft.com/office/drawing/2014/main" id="{6F0FF28F-4D8D-2FF6-42A9-095598B75ED5}"/>
              </a:ext>
            </a:extLst>
          </p:cNvPr>
          <p:cNvSpPr txBox="1">
            <a:spLocks/>
          </p:cNvSpPr>
          <p:nvPr/>
        </p:nvSpPr>
        <p:spPr>
          <a:xfrm>
            <a:off x="6046470" y="2764156"/>
            <a:ext cx="2091690" cy="37394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REGCHANGE schema, versioned control metadata, synthetic transactions, and RUN_THRESHOLD_BACKTEST.</a:t>
            </a:r>
            <a:endParaRPr lang="en-IN" sz="810">
              <a:solidFill>
                <a:srgbClr val="425466"/>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D41E14CE-69E5-A8D6-6F49-056CFA3D0A61}"/>
              </a:ext>
            </a:extLst>
          </p:cNvPr>
          <p:cNvSpPr>
            <a:spLocks/>
          </p:cNvSpPr>
          <p:nvPr/>
        </p:nvSpPr>
        <p:spPr>
          <a:xfrm>
            <a:off x="5892166" y="3278506"/>
            <a:ext cx="2383155" cy="80581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0" name="TextBox 19">
            <a:extLst>
              <a:ext uri="{FF2B5EF4-FFF2-40B4-BE49-F238E27FC236}">
                <a16:creationId xmlns:a16="http://schemas.microsoft.com/office/drawing/2014/main" id="{582B966F-2393-02D1-9893-6346E8E06DA1}"/>
              </a:ext>
            </a:extLst>
          </p:cNvPr>
          <p:cNvSpPr txBox="1">
            <a:spLocks/>
          </p:cNvSpPr>
          <p:nvPr/>
        </p:nvSpPr>
        <p:spPr>
          <a:xfrm>
            <a:off x="6046471" y="3398521"/>
            <a:ext cx="210883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AI + governance</a:t>
            </a:r>
          </a:p>
        </p:txBody>
      </p:sp>
      <p:sp>
        <p:nvSpPr>
          <p:cNvPr id="21" name="TextBox 20">
            <a:extLst>
              <a:ext uri="{FF2B5EF4-FFF2-40B4-BE49-F238E27FC236}">
                <a16:creationId xmlns:a16="http://schemas.microsoft.com/office/drawing/2014/main" id="{BBBA8C4B-7090-A39D-481D-BB2DAB048790}"/>
              </a:ext>
            </a:extLst>
          </p:cNvPr>
          <p:cNvSpPr txBox="1">
            <a:spLocks/>
          </p:cNvSpPr>
          <p:nvPr/>
        </p:nvSpPr>
        <p:spPr>
          <a:xfrm>
            <a:off x="6046470" y="3689986"/>
            <a:ext cx="2091690" cy="24929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Cortex extraction and Cortex Analyst over a Semantic View; review is logged separately.</a:t>
            </a:r>
            <a:endParaRPr lang="en-IN" sz="810">
              <a:solidFill>
                <a:srgbClr val="425466"/>
              </a:solidFill>
              <a:latin typeface="Aptos" panose="020B0004020202020204" pitchFamily="34" charset="0"/>
            </a:endParaRPr>
          </a:p>
        </p:txBody>
      </p:sp>
    </p:spTree>
    <p:extLst>
      <p:ext uri="{BB962C8B-B14F-4D97-AF65-F5344CB8AC3E}">
        <p14:creationId xmlns:p14="http://schemas.microsoft.com/office/powerpoint/2010/main" val="2915920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5" name="TransferTemplateBackground" title="Framewsxexexe 233.png">
            <a:extLst>
              <a:ext uri="{FF2B5EF4-FFF2-40B4-BE49-F238E27FC236}">
                <a16:creationId xmlns:a16="http://schemas.microsoft.com/office/drawing/2014/main" id="{4387974F-80FC-BF64-EAFD-6644EA0D2535}"/>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 name="Rectangle 7">
            <a:extLst>
              <a:ext uri="{FF2B5EF4-FFF2-40B4-BE49-F238E27FC236}">
                <a16:creationId xmlns:a16="http://schemas.microsoft.com/office/drawing/2014/main" id="{9668A4D5-118A-43D6-397A-C1B211ABC6E0}"/>
              </a:ext>
            </a:extLst>
          </p:cNvPr>
          <p:cNvSpPr>
            <a:spLocks/>
          </p:cNvSpPr>
          <p:nvPr/>
        </p:nvSpPr>
        <p:spPr>
          <a:xfrm>
            <a:off x="457200" y="493254"/>
            <a:ext cx="8229600" cy="4516896"/>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034A0C21-4A4E-983C-BD66-D3B5E7C2A9C1}"/>
              </a:ext>
            </a:extLst>
          </p:cNvPr>
          <p:cNvSpPr>
            <a:spLocks/>
          </p:cNvSpPr>
          <p:nvPr/>
        </p:nvSpPr>
        <p:spPr>
          <a:xfrm>
            <a:off x="600077" y="664395"/>
            <a:ext cx="8086725" cy="2212014"/>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7190D8D4-8017-D6E3-3065-05DD7D6F9A1D}"/>
              </a:ext>
            </a:extLst>
          </p:cNvPr>
          <p:cNvSpPr txBox="1">
            <a:spLocks/>
          </p:cNvSpPr>
          <p:nvPr/>
        </p:nvSpPr>
        <p:spPr>
          <a:xfrm>
            <a:off x="868680" y="56052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24A8FEBD-9250-466A-D8DE-46DCB2FF36CF}"/>
              </a:ext>
            </a:extLst>
          </p:cNvPr>
          <p:cNvSpPr txBox="1">
            <a:spLocks/>
          </p:cNvSpPr>
          <p:nvPr/>
        </p:nvSpPr>
        <p:spPr>
          <a:xfrm>
            <a:off x="868680" y="843915"/>
            <a:ext cx="7372350" cy="290849"/>
          </a:xfrm>
          <a:prstGeom prst="rect">
            <a:avLst/>
          </a:prstGeom>
          <a:noFill/>
        </p:spPr>
        <p:txBody>
          <a:bodyPr vert="horz" wrap="square" lIns="0" tIns="0" rIns="0" bIns="0" rtlCol="0" anchor="t">
            <a:noAutofit/>
          </a:bodyPr>
          <a:lstStyle/>
          <a:p>
            <a:r>
              <a:rPr lang="en-US" sz="1890" b="1" dirty="0">
                <a:solidFill>
                  <a:srgbClr val="102A43"/>
                </a:solidFill>
                <a:latin typeface="Aptos" panose="020B0004020202020204" pitchFamily="34" charset="0"/>
              </a:rPr>
              <a:t>Policy extraction is a proposal, not a policy decision</a:t>
            </a:r>
            <a:endParaRPr lang="en-IN" sz="1890" b="1" dirty="0">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E292E184-F3B5-57BE-FF28-394CE5BD88DD}"/>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9" name="Picture 8">
            <a:extLst>
              <a:ext uri="{FF2B5EF4-FFF2-40B4-BE49-F238E27FC236}">
                <a16:creationId xmlns:a16="http://schemas.microsoft.com/office/drawing/2014/main" id="{8BB394B2-7D92-4A26-6779-0C6E3D7B3AD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68680" y="1610240"/>
            <a:ext cx="4672013" cy="2393556"/>
          </a:xfrm>
          <a:prstGeom prst="rect">
            <a:avLst/>
          </a:prstGeom>
        </p:spPr>
      </p:pic>
      <p:sp>
        <p:nvSpPr>
          <p:cNvPr id="10" name="TextBox 9">
            <a:extLst>
              <a:ext uri="{FF2B5EF4-FFF2-40B4-BE49-F238E27FC236}">
                <a16:creationId xmlns:a16="http://schemas.microsoft.com/office/drawing/2014/main" id="{A5B900D9-6A48-4BA8-84F4-733FC915F9E8}"/>
              </a:ext>
            </a:extLst>
          </p:cNvPr>
          <p:cNvSpPr txBox="1">
            <a:spLocks/>
          </p:cNvSpPr>
          <p:nvPr/>
        </p:nvSpPr>
        <p:spPr>
          <a:xfrm>
            <a:off x="5815014" y="1461135"/>
            <a:ext cx="2451735" cy="114327"/>
          </a:xfrm>
          <a:prstGeom prst="rect">
            <a:avLst/>
          </a:prstGeom>
          <a:noFill/>
        </p:spPr>
        <p:txBody>
          <a:bodyPr vert="horz" wrap="square" lIns="0" tIns="0" rIns="0" bIns="0" rtlCol="0" anchor="t">
            <a:noAutofit/>
          </a:bodyPr>
          <a:lstStyle/>
          <a:p>
            <a:r>
              <a:rPr lang="en-IN" sz="743" b="1">
                <a:solidFill>
                  <a:srgbClr val="087E9A"/>
                </a:solidFill>
                <a:latin typeface="Aptos" panose="020B0004020202020204" pitchFamily="34" charset="0"/>
              </a:rPr>
              <a:t>FICTIONAL SAMPLE CIRCULAR</a:t>
            </a:r>
          </a:p>
        </p:txBody>
      </p:sp>
      <p:sp>
        <p:nvSpPr>
          <p:cNvPr id="11" name="TextBox 10">
            <a:extLst>
              <a:ext uri="{FF2B5EF4-FFF2-40B4-BE49-F238E27FC236}">
                <a16:creationId xmlns:a16="http://schemas.microsoft.com/office/drawing/2014/main" id="{125144B1-5FF3-B626-ABCA-449A4D3A6636}"/>
              </a:ext>
            </a:extLst>
          </p:cNvPr>
          <p:cNvSpPr txBox="1">
            <a:spLocks/>
          </p:cNvSpPr>
          <p:nvPr/>
        </p:nvSpPr>
        <p:spPr>
          <a:xfrm>
            <a:off x="5815014" y="1786891"/>
            <a:ext cx="2451735" cy="498598"/>
          </a:xfrm>
          <a:prstGeom prst="rect">
            <a:avLst/>
          </a:prstGeom>
          <a:noFill/>
        </p:spPr>
        <p:txBody>
          <a:bodyPr vert="horz" wrap="square" lIns="0" tIns="0" rIns="0" bIns="0" rtlCol="0" anchor="t">
            <a:noAutofit/>
          </a:bodyPr>
          <a:lstStyle/>
          <a:p>
            <a:r>
              <a:rPr lang="en-IN" sz="1620" b="1">
                <a:solidFill>
                  <a:srgbClr val="102A43"/>
                </a:solidFill>
                <a:latin typeface="Aptos" panose="020B0004020202020204" pitchFamily="34" charset="0"/>
              </a:rPr>
              <a:t>INR 1,000,000  -&gt;  INR 500,000</a:t>
            </a:r>
          </a:p>
        </p:txBody>
      </p:sp>
      <p:sp>
        <p:nvSpPr>
          <p:cNvPr id="12" name="TextBox 11">
            <a:extLst>
              <a:ext uri="{FF2B5EF4-FFF2-40B4-BE49-F238E27FC236}">
                <a16:creationId xmlns:a16="http://schemas.microsoft.com/office/drawing/2014/main" id="{5E08BD32-A164-DF3A-546A-0BD709CA861E}"/>
              </a:ext>
            </a:extLst>
          </p:cNvPr>
          <p:cNvSpPr txBox="1">
            <a:spLocks/>
          </p:cNvSpPr>
          <p:nvPr/>
        </p:nvSpPr>
        <p:spPr>
          <a:xfrm>
            <a:off x="5815013" y="2832736"/>
            <a:ext cx="2400300" cy="539891"/>
          </a:xfrm>
          <a:prstGeom prst="rect">
            <a:avLst/>
          </a:prstGeom>
          <a:noFill/>
        </p:spPr>
        <p:txBody>
          <a:bodyPr vert="horz" wrap="square" lIns="0" tIns="0" rIns="0" bIns="0" rtlCol="0" anchor="t">
            <a:noAutofit/>
          </a:bodyPr>
          <a:lstStyle/>
          <a:p>
            <a:r>
              <a:rPr lang="en-US" sz="877">
                <a:solidFill>
                  <a:srgbClr val="425466"/>
                </a:solidFill>
                <a:latin typeface="Aptos" panose="020B0004020202020204" pitchFamily="34" charset="0"/>
              </a:rPr>
              <a:t>Cortex extracts the rule, parameter, proposed threshold, currency, effective date, and summary. The UI offers extracted values for review before backtesting.</a:t>
            </a:r>
            <a:endParaRPr lang="en-IN" sz="877">
              <a:solidFill>
                <a:srgbClr val="425466"/>
              </a:solidFill>
              <a:latin typeface="Aptos" panose="020B0004020202020204" pitchFamily="34" charset="0"/>
            </a:endParaRPr>
          </a:p>
        </p:txBody>
      </p:sp>
      <p:sp>
        <p:nvSpPr>
          <p:cNvPr id="13" name="Rectangle: Rounded Corners 12">
            <a:extLst>
              <a:ext uri="{FF2B5EF4-FFF2-40B4-BE49-F238E27FC236}">
                <a16:creationId xmlns:a16="http://schemas.microsoft.com/office/drawing/2014/main" id="{48C9CEF2-234C-4ABA-0E6C-D7893CC91B2A}"/>
              </a:ext>
            </a:extLst>
          </p:cNvPr>
          <p:cNvSpPr>
            <a:spLocks/>
          </p:cNvSpPr>
          <p:nvPr/>
        </p:nvSpPr>
        <p:spPr>
          <a:xfrm>
            <a:off x="5815014" y="3930015"/>
            <a:ext cx="2451735" cy="377190"/>
          </a:xfrm>
          <a:prstGeom prst="roundRect">
            <a:avLst/>
          </a:prstGeom>
          <a:solidFill>
            <a:srgbClr val="FFF2E8"/>
          </a:solidFill>
          <a:ln w="10160">
            <a:solidFill>
              <a:srgbClr val="F4C9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solidFill>
                <a:schemeClr val="tx2">
                  <a:lumMod val="60000"/>
                  <a:lumOff val="40000"/>
                </a:schemeClr>
              </a:solidFill>
              <a:highlight>
                <a:srgbClr val="00FFFF"/>
              </a:highlight>
            </a:endParaRPr>
          </a:p>
        </p:txBody>
      </p:sp>
      <p:sp>
        <p:nvSpPr>
          <p:cNvPr id="14" name="TextBox 13">
            <a:extLst>
              <a:ext uri="{FF2B5EF4-FFF2-40B4-BE49-F238E27FC236}">
                <a16:creationId xmlns:a16="http://schemas.microsoft.com/office/drawing/2014/main" id="{65EB8F4E-8A10-67D9-2944-A3A4DBDA7103}"/>
              </a:ext>
            </a:extLst>
          </p:cNvPr>
          <p:cNvSpPr txBox="1">
            <a:spLocks/>
          </p:cNvSpPr>
          <p:nvPr/>
        </p:nvSpPr>
        <p:spPr>
          <a:xfrm>
            <a:off x="5926456" y="4015741"/>
            <a:ext cx="2245995" cy="124650"/>
          </a:xfrm>
          <a:prstGeom prst="rect">
            <a:avLst/>
          </a:prstGeom>
          <a:noFill/>
        </p:spPr>
        <p:txBody>
          <a:bodyPr vert="horz" wrap="square" lIns="0" tIns="0" rIns="0" bIns="0" rtlCol="0" anchor="t">
            <a:noAutofit/>
          </a:bodyPr>
          <a:lstStyle/>
          <a:p>
            <a:r>
              <a:rPr lang="en-IN" sz="810" b="1" dirty="0">
                <a:solidFill>
                  <a:srgbClr val="8B4B12"/>
                </a:solidFill>
                <a:latin typeface="Aptos" panose="020B0004020202020204" pitchFamily="34" charset="0"/>
              </a:rPr>
              <a:t>Reviewer verifies before use.</a:t>
            </a:r>
          </a:p>
        </p:txBody>
      </p:sp>
    </p:spTree>
    <p:extLst>
      <p:ext uri="{BB962C8B-B14F-4D97-AF65-F5344CB8AC3E}">
        <p14:creationId xmlns:p14="http://schemas.microsoft.com/office/powerpoint/2010/main" val="1479463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30" name="TransferTemplateBackground" title="Framewsxexexe 233.png">
            <a:extLst>
              <a:ext uri="{FF2B5EF4-FFF2-40B4-BE49-F238E27FC236}">
                <a16:creationId xmlns:a16="http://schemas.microsoft.com/office/drawing/2014/main" id="{B121C2EC-CE15-D0DB-1DC4-FFD9E0B76D0E}"/>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 name="Rectangle 7">
            <a:extLst>
              <a:ext uri="{FF2B5EF4-FFF2-40B4-BE49-F238E27FC236}">
                <a16:creationId xmlns:a16="http://schemas.microsoft.com/office/drawing/2014/main" id="{89C6AFAD-DAF5-135F-7019-0D7A79F9E8A2}"/>
              </a:ext>
            </a:extLst>
          </p:cNvPr>
          <p:cNvSpPr>
            <a:spLocks/>
          </p:cNvSpPr>
          <p:nvPr/>
        </p:nvSpPr>
        <p:spPr>
          <a:xfrm>
            <a:off x="457200" y="482958"/>
            <a:ext cx="8229600" cy="4527192"/>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7C540384-4A45-383B-8E16-C29CB2B35C19}"/>
              </a:ext>
            </a:extLst>
          </p:cNvPr>
          <p:cNvSpPr>
            <a:spLocks/>
          </p:cNvSpPr>
          <p:nvPr/>
        </p:nvSpPr>
        <p:spPr>
          <a:xfrm>
            <a:off x="611506" y="621030"/>
            <a:ext cx="8075295" cy="2296950"/>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1388C2A8-8FF6-AE7D-D07A-A9B5EFBEE189}"/>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7BA33999-BFF8-F314-56E1-E6A4CCEB7E73}"/>
              </a:ext>
            </a:extLst>
          </p:cNvPr>
          <p:cNvSpPr txBox="1">
            <a:spLocks/>
          </p:cNvSpPr>
          <p:nvPr/>
        </p:nvSpPr>
        <p:spPr>
          <a:xfrm>
            <a:off x="868680" y="883956"/>
            <a:ext cx="7372350" cy="290849"/>
          </a:xfrm>
          <a:prstGeom prst="rect">
            <a:avLst/>
          </a:prstGeom>
          <a:noFill/>
        </p:spPr>
        <p:txBody>
          <a:bodyPr vert="horz" wrap="square" lIns="0" tIns="0" rIns="0" bIns="0" rtlCol="0" anchor="t">
            <a:noAutofit/>
          </a:bodyPr>
          <a:lstStyle/>
          <a:p>
            <a:r>
              <a:rPr lang="en-US" sz="1890" b="1" dirty="0">
                <a:solidFill>
                  <a:srgbClr val="102A43"/>
                </a:solidFill>
                <a:latin typeface="Aptos" panose="020B0004020202020204" pitchFamily="34" charset="0"/>
              </a:rPr>
              <a:t>Replay the same history under both thresholds</a:t>
            </a:r>
            <a:endParaRPr lang="en-IN" sz="1890" b="1" dirty="0">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B3CB830F-E585-8234-EAD6-E499959AC05F}"/>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7" name="TextBox 6">
            <a:extLst>
              <a:ext uri="{FF2B5EF4-FFF2-40B4-BE49-F238E27FC236}">
                <a16:creationId xmlns:a16="http://schemas.microsoft.com/office/drawing/2014/main" id="{894162E6-9D86-2177-497A-ADC518C6E9CD}"/>
              </a:ext>
            </a:extLst>
          </p:cNvPr>
          <p:cNvSpPr txBox="1">
            <a:spLocks/>
          </p:cNvSpPr>
          <p:nvPr/>
        </p:nvSpPr>
        <p:spPr>
          <a:xfrm>
            <a:off x="7915275" y="4804411"/>
            <a:ext cx="342900" cy="93424"/>
          </a:xfrm>
          <a:prstGeom prst="rect">
            <a:avLst/>
          </a:prstGeom>
          <a:noFill/>
        </p:spPr>
        <p:txBody>
          <a:bodyPr vert="horz" wrap="square" lIns="0" tIns="0" rIns="0" bIns="0" rtlCol="0" anchor="t">
            <a:noAutofit/>
          </a:bodyPr>
          <a:lstStyle/>
          <a:p>
            <a:pPr algn="r"/>
            <a:r>
              <a:rPr lang="en-IN" sz="607" b="1">
                <a:solidFill>
                  <a:srgbClr val="087E9A"/>
                </a:solidFill>
                <a:latin typeface="Aptos" panose="020B0004020202020204" pitchFamily="34" charset="0"/>
              </a:rPr>
              <a:t>06</a:t>
            </a:r>
          </a:p>
        </p:txBody>
      </p:sp>
      <p:pic>
        <p:nvPicPr>
          <p:cNvPr id="9" name="Picture 8">
            <a:extLst>
              <a:ext uri="{FF2B5EF4-FFF2-40B4-BE49-F238E27FC236}">
                <a16:creationId xmlns:a16="http://schemas.microsoft.com/office/drawing/2014/main" id="{DFE49754-697D-49B1-45B2-84E8F408B69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68680" y="1599257"/>
            <a:ext cx="4757738" cy="2432666"/>
          </a:xfrm>
          <a:prstGeom prst="rect">
            <a:avLst/>
          </a:prstGeom>
        </p:spPr>
      </p:pic>
      <p:sp>
        <p:nvSpPr>
          <p:cNvPr id="10" name="TextBox 9">
            <a:extLst>
              <a:ext uri="{FF2B5EF4-FFF2-40B4-BE49-F238E27FC236}">
                <a16:creationId xmlns:a16="http://schemas.microsoft.com/office/drawing/2014/main" id="{9DC56983-8F72-0021-EAEF-369324CC03E5}"/>
              </a:ext>
            </a:extLst>
          </p:cNvPr>
          <p:cNvSpPr txBox="1">
            <a:spLocks/>
          </p:cNvSpPr>
          <p:nvPr/>
        </p:nvSpPr>
        <p:spPr>
          <a:xfrm>
            <a:off x="5900738" y="1461135"/>
            <a:ext cx="2357438"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ILLUSTRATIVE EXPECTED OUTPUT</a:t>
            </a:r>
          </a:p>
        </p:txBody>
      </p:sp>
      <p:sp>
        <p:nvSpPr>
          <p:cNvPr id="11" name="Rectangle: Rounded Corners 10">
            <a:extLst>
              <a:ext uri="{FF2B5EF4-FFF2-40B4-BE49-F238E27FC236}">
                <a16:creationId xmlns:a16="http://schemas.microsoft.com/office/drawing/2014/main" id="{B8AFC9EA-2C5E-D589-A793-F36C2D0E0C7E}"/>
              </a:ext>
            </a:extLst>
          </p:cNvPr>
          <p:cNvSpPr>
            <a:spLocks/>
          </p:cNvSpPr>
          <p:nvPr/>
        </p:nvSpPr>
        <p:spPr>
          <a:xfrm>
            <a:off x="5900738" y="1786890"/>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2" name="TextBox 11">
            <a:extLst>
              <a:ext uri="{FF2B5EF4-FFF2-40B4-BE49-F238E27FC236}">
                <a16:creationId xmlns:a16="http://schemas.microsoft.com/office/drawing/2014/main" id="{FD804FD1-FC17-F377-DDD2-A67FAACA0F73}"/>
              </a:ext>
            </a:extLst>
          </p:cNvPr>
          <p:cNvSpPr txBox="1">
            <a:spLocks/>
          </p:cNvSpPr>
          <p:nvPr/>
        </p:nvSpPr>
        <p:spPr>
          <a:xfrm>
            <a:off x="5986463" y="1855471"/>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132</a:t>
            </a:r>
          </a:p>
        </p:txBody>
      </p:sp>
      <p:sp>
        <p:nvSpPr>
          <p:cNvPr id="13" name="TextBox 12">
            <a:extLst>
              <a:ext uri="{FF2B5EF4-FFF2-40B4-BE49-F238E27FC236}">
                <a16:creationId xmlns:a16="http://schemas.microsoft.com/office/drawing/2014/main" id="{5D4DF932-A067-60CD-A8D9-51E38A94479A}"/>
              </a:ext>
            </a:extLst>
          </p:cNvPr>
          <p:cNvSpPr txBox="1">
            <a:spLocks/>
          </p:cNvSpPr>
          <p:nvPr/>
        </p:nvSpPr>
        <p:spPr>
          <a:xfrm>
            <a:off x="5986464" y="2138363"/>
            <a:ext cx="977265" cy="93424"/>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Baseline alerts</a:t>
            </a:r>
          </a:p>
        </p:txBody>
      </p:sp>
      <p:sp>
        <p:nvSpPr>
          <p:cNvPr id="14" name="Rectangle: Rounded Corners 13">
            <a:extLst>
              <a:ext uri="{FF2B5EF4-FFF2-40B4-BE49-F238E27FC236}">
                <a16:creationId xmlns:a16="http://schemas.microsoft.com/office/drawing/2014/main" id="{636BF45D-8A31-79B0-E68E-E9768FAC6B0A}"/>
              </a:ext>
            </a:extLst>
          </p:cNvPr>
          <p:cNvSpPr>
            <a:spLocks/>
          </p:cNvSpPr>
          <p:nvPr/>
        </p:nvSpPr>
        <p:spPr>
          <a:xfrm>
            <a:off x="7126605" y="1786890"/>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5" name="TextBox 14">
            <a:extLst>
              <a:ext uri="{FF2B5EF4-FFF2-40B4-BE49-F238E27FC236}">
                <a16:creationId xmlns:a16="http://schemas.microsoft.com/office/drawing/2014/main" id="{EED70A7A-1773-E46C-8386-C872E6970924}"/>
              </a:ext>
            </a:extLst>
          </p:cNvPr>
          <p:cNvSpPr txBox="1">
            <a:spLocks/>
          </p:cNvSpPr>
          <p:nvPr/>
        </p:nvSpPr>
        <p:spPr>
          <a:xfrm>
            <a:off x="7212330" y="1855471"/>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200</a:t>
            </a:r>
          </a:p>
        </p:txBody>
      </p:sp>
      <p:sp>
        <p:nvSpPr>
          <p:cNvPr id="16" name="TextBox 15">
            <a:extLst>
              <a:ext uri="{FF2B5EF4-FFF2-40B4-BE49-F238E27FC236}">
                <a16:creationId xmlns:a16="http://schemas.microsoft.com/office/drawing/2014/main" id="{35AF85F1-AE20-6732-E0C7-313C1C50F738}"/>
              </a:ext>
            </a:extLst>
          </p:cNvPr>
          <p:cNvSpPr txBox="1">
            <a:spLocks/>
          </p:cNvSpPr>
          <p:nvPr/>
        </p:nvSpPr>
        <p:spPr>
          <a:xfrm>
            <a:off x="7212331" y="2138363"/>
            <a:ext cx="977265" cy="93424"/>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Proposed alerts</a:t>
            </a:r>
          </a:p>
        </p:txBody>
      </p:sp>
      <p:sp>
        <p:nvSpPr>
          <p:cNvPr id="17" name="Rectangle: Rounded Corners 16">
            <a:extLst>
              <a:ext uri="{FF2B5EF4-FFF2-40B4-BE49-F238E27FC236}">
                <a16:creationId xmlns:a16="http://schemas.microsoft.com/office/drawing/2014/main" id="{C4213689-7BB6-5B05-6586-154911E91EF7}"/>
              </a:ext>
            </a:extLst>
          </p:cNvPr>
          <p:cNvSpPr>
            <a:spLocks/>
          </p:cNvSpPr>
          <p:nvPr/>
        </p:nvSpPr>
        <p:spPr>
          <a:xfrm>
            <a:off x="5900738" y="2498408"/>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8" name="TextBox 17">
            <a:extLst>
              <a:ext uri="{FF2B5EF4-FFF2-40B4-BE49-F238E27FC236}">
                <a16:creationId xmlns:a16="http://schemas.microsoft.com/office/drawing/2014/main" id="{8EDD861D-BCAC-05CD-718D-45FE3D409679}"/>
              </a:ext>
            </a:extLst>
          </p:cNvPr>
          <p:cNvSpPr txBox="1">
            <a:spLocks/>
          </p:cNvSpPr>
          <p:nvPr/>
        </p:nvSpPr>
        <p:spPr>
          <a:xfrm>
            <a:off x="5986463" y="2566988"/>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+68</a:t>
            </a:r>
          </a:p>
        </p:txBody>
      </p:sp>
      <p:sp>
        <p:nvSpPr>
          <p:cNvPr id="19" name="TextBox 18">
            <a:extLst>
              <a:ext uri="{FF2B5EF4-FFF2-40B4-BE49-F238E27FC236}">
                <a16:creationId xmlns:a16="http://schemas.microsoft.com/office/drawing/2014/main" id="{81F1D12D-466E-67ED-BC09-B0EB4A99C6A8}"/>
              </a:ext>
            </a:extLst>
          </p:cNvPr>
          <p:cNvSpPr txBox="1">
            <a:spLocks/>
          </p:cNvSpPr>
          <p:nvPr/>
        </p:nvSpPr>
        <p:spPr>
          <a:xfrm>
            <a:off x="5986464" y="2849881"/>
            <a:ext cx="977265" cy="93424"/>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Alert delta</a:t>
            </a:r>
          </a:p>
        </p:txBody>
      </p:sp>
      <p:sp>
        <p:nvSpPr>
          <p:cNvPr id="20" name="Rectangle: Rounded Corners 19">
            <a:extLst>
              <a:ext uri="{FF2B5EF4-FFF2-40B4-BE49-F238E27FC236}">
                <a16:creationId xmlns:a16="http://schemas.microsoft.com/office/drawing/2014/main" id="{073AFE2A-88C0-EFE6-8E03-3322863991A8}"/>
              </a:ext>
            </a:extLst>
          </p:cNvPr>
          <p:cNvSpPr>
            <a:spLocks/>
          </p:cNvSpPr>
          <p:nvPr/>
        </p:nvSpPr>
        <p:spPr>
          <a:xfrm>
            <a:off x="7126605" y="2498408"/>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TextBox 20">
            <a:extLst>
              <a:ext uri="{FF2B5EF4-FFF2-40B4-BE49-F238E27FC236}">
                <a16:creationId xmlns:a16="http://schemas.microsoft.com/office/drawing/2014/main" id="{1D1E9948-6F73-2BD9-4EEB-D73FD9C79F8C}"/>
              </a:ext>
            </a:extLst>
          </p:cNvPr>
          <p:cNvSpPr txBox="1">
            <a:spLocks/>
          </p:cNvSpPr>
          <p:nvPr/>
        </p:nvSpPr>
        <p:spPr>
          <a:xfrm>
            <a:off x="7212330" y="2566988"/>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+51.52%</a:t>
            </a:r>
          </a:p>
        </p:txBody>
      </p:sp>
      <p:sp>
        <p:nvSpPr>
          <p:cNvPr id="22" name="TextBox 21">
            <a:extLst>
              <a:ext uri="{FF2B5EF4-FFF2-40B4-BE49-F238E27FC236}">
                <a16:creationId xmlns:a16="http://schemas.microsoft.com/office/drawing/2014/main" id="{B4D0D34B-61DB-7E85-14B6-2C0A83291BA8}"/>
              </a:ext>
            </a:extLst>
          </p:cNvPr>
          <p:cNvSpPr txBox="1">
            <a:spLocks/>
          </p:cNvSpPr>
          <p:nvPr/>
        </p:nvSpPr>
        <p:spPr>
          <a:xfrm>
            <a:off x="7212331" y="2849881"/>
            <a:ext cx="977265" cy="93424"/>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Relative increase</a:t>
            </a:r>
          </a:p>
        </p:txBody>
      </p:sp>
      <p:sp>
        <p:nvSpPr>
          <p:cNvPr id="23" name="Rectangle: Rounded Corners 22">
            <a:extLst>
              <a:ext uri="{FF2B5EF4-FFF2-40B4-BE49-F238E27FC236}">
                <a16:creationId xmlns:a16="http://schemas.microsoft.com/office/drawing/2014/main" id="{377CFDC1-3619-8E31-13FD-63D0460E7A02}"/>
              </a:ext>
            </a:extLst>
          </p:cNvPr>
          <p:cNvSpPr>
            <a:spLocks/>
          </p:cNvSpPr>
          <p:nvPr/>
        </p:nvSpPr>
        <p:spPr>
          <a:xfrm>
            <a:off x="5900738" y="3209925"/>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4" name="TextBox 23">
            <a:extLst>
              <a:ext uri="{FF2B5EF4-FFF2-40B4-BE49-F238E27FC236}">
                <a16:creationId xmlns:a16="http://schemas.microsoft.com/office/drawing/2014/main" id="{FE617C07-09D9-5F93-DB37-E503530A7945}"/>
              </a:ext>
            </a:extLst>
          </p:cNvPr>
          <p:cNvSpPr txBox="1">
            <a:spLocks/>
          </p:cNvSpPr>
          <p:nvPr/>
        </p:nvSpPr>
        <p:spPr>
          <a:xfrm>
            <a:off x="5986463" y="3278506"/>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50</a:t>
            </a:r>
          </a:p>
        </p:txBody>
      </p:sp>
      <p:sp>
        <p:nvSpPr>
          <p:cNvPr id="25" name="TextBox 24">
            <a:extLst>
              <a:ext uri="{FF2B5EF4-FFF2-40B4-BE49-F238E27FC236}">
                <a16:creationId xmlns:a16="http://schemas.microsoft.com/office/drawing/2014/main" id="{48B6F7D8-0148-C538-6D66-6CF90A1B1646}"/>
              </a:ext>
            </a:extLst>
          </p:cNvPr>
          <p:cNvSpPr txBox="1">
            <a:spLocks/>
          </p:cNvSpPr>
          <p:nvPr/>
        </p:nvSpPr>
        <p:spPr>
          <a:xfrm>
            <a:off x="5986464" y="3561399"/>
            <a:ext cx="977265" cy="186846"/>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Accounts under proposed rule</a:t>
            </a:r>
          </a:p>
        </p:txBody>
      </p:sp>
      <p:sp>
        <p:nvSpPr>
          <p:cNvPr id="26" name="Rectangle: Rounded Corners 25">
            <a:extLst>
              <a:ext uri="{FF2B5EF4-FFF2-40B4-BE49-F238E27FC236}">
                <a16:creationId xmlns:a16="http://schemas.microsoft.com/office/drawing/2014/main" id="{F5A29E01-D699-025B-8515-F5CB3CA6D580}"/>
              </a:ext>
            </a:extLst>
          </p:cNvPr>
          <p:cNvSpPr>
            <a:spLocks/>
          </p:cNvSpPr>
          <p:nvPr/>
        </p:nvSpPr>
        <p:spPr>
          <a:xfrm>
            <a:off x="7126605" y="3209925"/>
            <a:ext cx="1131570" cy="582930"/>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7" name="TextBox 26">
            <a:extLst>
              <a:ext uri="{FF2B5EF4-FFF2-40B4-BE49-F238E27FC236}">
                <a16:creationId xmlns:a16="http://schemas.microsoft.com/office/drawing/2014/main" id="{DC06A410-3D1D-0D08-6FEB-1883E512D9EF}"/>
              </a:ext>
            </a:extLst>
          </p:cNvPr>
          <p:cNvSpPr txBox="1">
            <a:spLocks/>
          </p:cNvSpPr>
          <p:nvPr/>
        </p:nvSpPr>
        <p:spPr>
          <a:xfrm>
            <a:off x="7212330" y="3278506"/>
            <a:ext cx="985838" cy="145424"/>
          </a:xfrm>
          <a:prstGeom prst="rect">
            <a:avLst/>
          </a:prstGeom>
          <a:noFill/>
        </p:spPr>
        <p:txBody>
          <a:bodyPr vert="horz" wrap="square" lIns="0" tIns="0" rIns="0" bIns="0" rtlCol="0" anchor="t">
            <a:noAutofit/>
          </a:bodyPr>
          <a:lstStyle/>
          <a:p>
            <a:r>
              <a:rPr lang="en-IN" sz="945" b="1">
                <a:solidFill>
                  <a:srgbClr val="102A43"/>
                </a:solidFill>
                <a:latin typeface="Aptos" panose="020B0004020202020204" pitchFamily="34" charset="0"/>
              </a:rPr>
              <a:t>47</a:t>
            </a:r>
          </a:p>
        </p:txBody>
      </p:sp>
      <p:sp>
        <p:nvSpPr>
          <p:cNvPr id="28" name="TextBox 27">
            <a:extLst>
              <a:ext uri="{FF2B5EF4-FFF2-40B4-BE49-F238E27FC236}">
                <a16:creationId xmlns:a16="http://schemas.microsoft.com/office/drawing/2014/main" id="{FD4D5468-4AFE-ED93-AEAF-AB784FBA3964}"/>
              </a:ext>
            </a:extLst>
          </p:cNvPr>
          <p:cNvSpPr txBox="1">
            <a:spLocks/>
          </p:cNvSpPr>
          <p:nvPr/>
        </p:nvSpPr>
        <p:spPr>
          <a:xfrm>
            <a:off x="7212331" y="3561399"/>
            <a:ext cx="977265" cy="93424"/>
          </a:xfrm>
          <a:prstGeom prst="rect">
            <a:avLst/>
          </a:prstGeom>
          <a:noFill/>
        </p:spPr>
        <p:txBody>
          <a:bodyPr vert="horz" wrap="square" lIns="0" tIns="0" rIns="0" bIns="0" rtlCol="0" anchor="t">
            <a:noAutofit/>
          </a:bodyPr>
          <a:lstStyle/>
          <a:p>
            <a:r>
              <a:rPr lang="en-IN" sz="607">
                <a:solidFill>
                  <a:srgbClr val="425466"/>
                </a:solidFill>
                <a:latin typeface="Aptos" panose="020B0004020202020204" pitchFamily="34" charset="0"/>
              </a:rPr>
              <a:t>Newly alerted accounts</a:t>
            </a:r>
          </a:p>
        </p:txBody>
      </p:sp>
      <p:sp>
        <p:nvSpPr>
          <p:cNvPr id="29" name="TextBox 28">
            <a:extLst>
              <a:ext uri="{FF2B5EF4-FFF2-40B4-BE49-F238E27FC236}">
                <a16:creationId xmlns:a16="http://schemas.microsoft.com/office/drawing/2014/main" id="{D445514A-388A-C1B1-3CAD-DB308D43069B}"/>
              </a:ext>
            </a:extLst>
          </p:cNvPr>
          <p:cNvSpPr txBox="1">
            <a:spLocks/>
          </p:cNvSpPr>
          <p:nvPr/>
        </p:nvSpPr>
        <p:spPr>
          <a:xfrm>
            <a:off x="5900739" y="3990022"/>
            <a:ext cx="2383155" cy="311624"/>
          </a:xfrm>
          <a:prstGeom prst="rect">
            <a:avLst/>
          </a:prstGeom>
          <a:noFill/>
        </p:spPr>
        <p:txBody>
          <a:bodyPr vert="horz" wrap="square" lIns="0" tIns="0" rIns="0" bIns="0" rtlCol="0" anchor="t">
            <a:noAutofit/>
          </a:bodyPr>
          <a:lstStyle/>
          <a:p>
            <a:r>
              <a:rPr lang="en-US" sz="675" dirty="0">
                <a:solidFill>
                  <a:srgbClr val="8B4B12"/>
                </a:solidFill>
                <a:latin typeface="Aptos" panose="020B0004020202020204" pitchFamily="34" charset="0"/>
              </a:rPr>
              <a:t>Smoke-test targets for the unmodified synthetic dataset. Confirm against the live Snowflake run before presenting as measured results.</a:t>
            </a:r>
            <a:endParaRPr lang="en-IN" sz="675" dirty="0">
              <a:solidFill>
                <a:srgbClr val="8B4B12"/>
              </a:solidFill>
              <a:latin typeface="Aptos" panose="020B0004020202020204" pitchFamily="34" charset="0"/>
            </a:endParaRPr>
          </a:p>
        </p:txBody>
      </p:sp>
    </p:spTree>
    <p:extLst>
      <p:ext uri="{BB962C8B-B14F-4D97-AF65-F5344CB8AC3E}">
        <p14:creationId xmlns:p14="http://schemas.microsoft.com/office/powerpoint/2010/main" val="1284883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1" name="TransferTemplateBackground" title="Framewsxexexe 233.png">
            <a:extLst>
              <a:ext uri="{FF2B5EF4-FFF2-40B4-BE49-F238E27FC236}">
                <a16:creationId xmlns:a16="http://schemas.microsoft.com/office/drawing/2014/main" id="{5759F7A0-6209-8D24-BE30-D5672A582756}"/>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 name="Rectangle 1">
            <a:extLst>
              <a:ext uri="{FF2B5EF4-FFF2-40B4-BE49-F238E27FC236}">
                <a16:creationId xmlns:a16="http://schemas.microsoft.com/office/drawing/2014/main" id="{6D896DF8-F8C5-F1F1-9408-ECC1989DA5D7}"/>
              </a:ext>
            </a:extLst>
          </p:cNvPr>
          <p:cNvSpPr>
            <a:spLocks/>
          </p:cNvSpPr>
          <p:nvPr/>
        </p:nvSpPr>
        <p:spPr>
          <a:xfrm>
            <a:off x="605790" y="523297"/>
            <a:ext cx="8081010" cy="2571750"/>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02C77D89-8704-F3C2-17F1-F7A4F617E5FC}"/>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3D83559E-DD4D-CD1D-A1EF-FA036CAD6119}"/>
              </a:ext>
            </a:extLst>
          </p:cNvPr>
          <p:cNvSpPr txBox="1">
            <a:spLocks/>
          </p:cNvSpPr>
          <p:nvPr/>
        </p:nvSpPr>
        <p:spPr>
          <a:xfrm>
            <a:off x="868680" y="843915"/>
            <a:ext cx="7372350" cy="290849"/>
          </a:xfrm>
          <a:prstGeom prst="rect">
            <a:avLst/>
          </a:prstGeom>
          <a:noFill/>
        </p:spPr>
        <p:txBody>
          <a:bodyPr vert="horz" wrap="square" lIns="0" tIns="0" rIns="0" bIns="0" rtlCol="0" anchor="t">
            <a:noAutofit/>
          </a:bodyPr>
          <a:lstStyle/>
          <a:p>
            <a:r>
              <a:rPr lang="en-US" sz="1890" b="1">
                <a:solidFill>
                  <a:srgbClr val="102A43"/>
                </a:solidFill>
                <a:latin typeface="Aptos" panose="020B0004020202020204" pitchFamily="34" charset="0"/>
              </a:rPr>
              <a:t>Review is recorded; control promotion stays separate</a:t>
            </a:r>
            <a:endParaRPr lang="en-IN" sz="1890" b="1">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E8F684E5-8582-15AF-1993-2206ABD4E7D2}"/>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pic>
        <p:nvPicPr>
          <p:cNvPr id="9" name="Picture 8">
            <a:extLst>
              <a:ext uri="{FF2B5EF4-FFF2-40B4-BE49-F238E27FC236}">
                <a16:creationId xmlns:a16="http://schemas.microsoft.com/office/drawing/2014/main" id="{0881950C-1D35-D7B0-9557-0E51487641F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68680" y="1595894"/>
            <a:ext cx="4757738" cy="2439393"/>
          </a:xfrm>
          <a:prstGeom prst="rect">
            <a:avLst/>
          </a:prstGeom>
        </p:spPr>
      </p:pic>
      <p:sp>
        <p:nvSpPr>
          <p:cNvPr id="10" name="Rectangle: Rounded Corners 9">
            <a:extLst>
              <a:ext uri="{FF2B5EF4-FFF2-40B4-BE49-F238E27FC236}">
                <a16:creationId xmlns:a16="http://schemas.microsoft.com/office/drawing/2014/main" id="{182E4289-89A4-6CED-CA4F-85DD073E65DE}"/>
              </a:ext>
            </a:extLst>
          </p:cNvPr>
          <p:cNvSpPr>
            <a:spLocks/>
          </p:cNvSpPr>
          <p:nvPr/>
        </p:nvSpPr>
        <p:spPr>
          <a:xfrm>
            <a:off x="5892166" y="1512571"/>
            <a:ext cx="2383155" cy="87439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2" name="TextBox 11">
            <a:extLst>
              <a:ext uri="{FF2B5EF4-FFF2-40B4-BE49-F238E27FC236}">
                <a16:creationId xmlns:a16="http://schemas.microsoft.com/office/drawing/2014/main" id="{3EB08B72-36C2-563E-0A37-335FF93E4245}"/>
              </a:ext>
            </a:extLst>
          </p:cNvPr>
          <p:cNvSpPr txBox="1">
            <a:spLocks/>
          </p:cNvSpPr>
          <p:nvPr/>
        </p:nvSpPr>
        <p:spPr>
          <a:xfrm>
            <a:off x="6046471" y="1632586"/>
            <a:ext cx="210883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Decision record</a:t>
            </a:r>
          </a:p>
        </p:txBody>
      </p:sp>
      <p:sp>
        <p:nvSpPr>
          <p:cNvPr id="13" name="TextBox 12">
            <a:extLst>
              <a:ext uri="{FF2B5EF4-FFF2-40B4-BE49-F238E27FC236}">
                <a16:creationId xmlns:a16="http://schemas.microsoft.com/office/drawing/2014/main" id="{062D5878-1530-148C-EE0C-708C2FDE5FFC}"/>
              </a:ext>
            </a:extLst>
          </p:cNvPr>
          <p:cNvSpPr txBox="1">
            <a:spLocks/>
          </p:cNvSpPr>
          <p:nvPr/>
        </p:nvSpPr>
        <p:spPr>
          <a:xfrm>
            <a:off x="6046470" y="1924051"/>
            <a:ext cx="2091690" cy="37394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Reviewer, approve/reject decision, comment, run ID, and review timestamp are written to REVIEW_LOG.</a:t>
            </a:r>
            <a:endParaRPr lang="en-IN" sz="810">
              <a:solidFill>
                <a:srgbClr val="425466"/>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0688B93A-DA87-0474-F5A3-A3E00DB46361}"/>
              </a:ext>
            </a:extLst>
          </p:cNvPr>
          <p:cNvSpPr>
            <a:spLocks/>
          </p:cNvSpPr>
          <p:nvPr/>
        </p:nvSpPr>
        <p:spPr>
          <a:xfrm>
            <a:off x="5892166" y="2541271"/>
            <a:ext cx="2383155" cy="874395"/>
          </a:xfrm>
          <a:prstGeom prst="roundRect">
            <a:avLst/>
          </a:prstGeom>
          <a:solidFill>
            <a:srgbClr val="FFFFFF"/>
          </a:solidFill>
          <a:ln w="10160">
            <a:solidFill>
              <a:srgbClr val="DCE5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6" name="TextBox 15">
            <a:extLst>
              <a:ext uri="{FF2B5EF4-FFF2-40B4-BE49-F238E27FC236}">
                <a16:creationId xmlns:a16="http://schemas.microsoft.com/office/drawing/2014/main" id="{35FD3607-9190-2109-5FA1-841F5743D001}"/>
              </a:ext>
            </a:extLst>
          </p:cNvPr>
          <p:cNvSpPr txBox="1">
            <a:spLocks/>
          </p:cNvSpPr>
          <p:nvPr/>
        </p:nvSpPr>
        <p:spPr>
          <a:xfrm>
            <a:off x="6046471" y="2661286"/>
            <a:ext cx="2108835" cy="176651"/>
          </a:xfrm>
          <a:prstGeom prst="rect">
            <a:avLst/>
          </a:prstGeom>
          <a:noFill/>
        </p:spPr>
        <p:txBody>
          <a:bodyPr vert="horz" wrap="square" lIns="0" tIns="0" rIns="0" bIns="0" rtlCol="0" anchor="t">
            <a:noAutofit/>
          </a:bodyPr>
          <a:lstStyle/>
          <a:p>
            <a:r>
              <a:rPr lang="en-IN" sz="1148" b="1">
                <a:solidFill>
                  <a:srgbClr val="102A43"/>
                </a:solidFill>
                <a:latin typeface="Aptos" panose="020B0004020202020204" pitchFamily="34" charset="0"/>
              </a:rPr>
              <a:t>Remediation preview</a:t>
            </a:r>
          </a:p>
        </p:txBody>
      </p:sp>
      <p:sp>
        <p:nvSpPr>
          <p:cNvPr id="17" name="TextBox 16">
            <a:extLst>
              <a:ext uri="{FF2B5EF4-FFF2-40B4-BE49-F238E27FC236}">
                <a16:creationId xmlns:a16="http://schemas.microsoft.com/office/drawing/2014/main" id="{B5787E9B-B99B-A5B1-DC3F-9B748E096AC3}"/>
              </a:ext>
            </a:extLst>
          </p:cNvPr>
          <p:cNvSpPr txBox="1">
            <a:spLocks/>
          </p:cNvSpPr>
          <p:nvPr/>
        </p:nvSpPr>
        <p:spPr>
          <a:xfrm>
            <a:off x="6046470" y="2952751"/>
            <a:ext cx="2091690" cy="37394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The app displays proposed versioning SQL as a preview. It does not automatically promote the rule.</a:t>
            </a:r>
            <a:endParaRPr lang="en-IN" sz="810">
              <a:solidFill>
                <a:srgbClr val="425466"/>
              </a:solidFill>
              <a:latin typeface="Aptos" panose="020B0004020202020204" pitchFamily="34" charset="0"/>
            </a:endParaRPr>
          </a:p>
        </p:txBody>
      </p:sp>
      <p:sp>
        <p:nvSpPr>
          <p:cNvPr id="18" name="TextBox 17">
            <a:extLst>
              <a:ext uri="{FF2B5EF4-FFF2-40B4-BE49-F238E27FC236}">
                <a16:creationId xmlns:a16="http://schemas.microsoft.com/office/drawing/2014/main" id="{DAF51859-9DFF-4C3B-480F-239967137086}"/>
              </a:ext>
            </a:extLst>
          </p:cNvPr>
          <p:cNvSpPr txBox="1">
            <a:spLocks/>
          </p:cNvSpPr>
          <p:nvPr/>
        </p:nvSpPr>
        <p:spPr>
          <a:xfrm>
            <a:off x="5892166" y="3621406"/>
            <a:ext cx="2383155" cy="249299"/>
          </a:xfrm>
          <a:prstGeom prst="rect">
            <a:avLst/>
          </a:prstGeom>
          <a:noFill/>
        </p:spPr>
        <p:txBody>
          <a:bodyPr vert="horz" wrap="square" lIns="0" tIns="0" rIns="0" bIns="0" rtlCol="0" anchor="t">
            <a:noAutofit/>
          </a:bodyPr>
          <a:lstStyle/>
          <a:p>
            <a:r>
              <a:rPr lang="en-US" sz="810">
                <a:solidFill>
                  <a:srgbClr val="425466"/>
                </a:solidFill>
                <a:latin typeface="Aptos" panose="020B0004020202020204" pitchFamily="34" charset="0"/>
              </a:rPr>
              <a:t>Audit chain: baseline -&gt; backtest run -&gt; review decision -&gt; optional, separately executed change.</a:t>
            </a:r>
            <a:endParaRPr lang="en-IN" sz="810">
              <a:solidFill>
                <a:srgbClr val="425466"/>
              </a:solidFill>
              <a:latin typeface="Aptos" panose="020B0004020202020204" pitchFamily="34" charset="0"/>
            </a:endParaRPr>
          </a:p>
        </p:txBody>
      </p:sp>
    </p:spTree>
    <p:extLst>
      <p:ext uri="{BB962C8B-B14F-4D97-AF65-F5344CB8AC3E}">
        <p14:creationId xmlns:p14="http://schemas.microsoft.com/office/powerpoint/2010/main" val="182404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5" name="TransferTemplateBackground" title="Framewsxexexe 233.png">
            <a:extLst>
              <a:ext uri="{FF2B5EF4-FFF2-40B4-BE49-F238E27FC236}">
                <a16:creationId xmlns:a16="http://schemas.microsoft.com/office/drawing/2014/main" id="{013383CD-A7F3-6D15-A210-8996938F26E2}"/>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 name="Rectangle 1">
            <a:extLst>
              <a:ext uri="{FF2B5EF4-FFF2-40B4-BE49-F238E27FC236}">
                <a16:creationId xmlns:a16="http://schemas.microsoft.com/office/drawing/2014/main" id="{EB09B3B2-4DBE-6052-C026-3599F603C00A}"/>
              </a:ext>
            </a:extLst>
          </p:cNvPr>
          <p:cNvSpPr>
            <a:spLocks/>
          </p:cNvSpPr>
          <p:nvPr/>
        </p:nvSpPr>
        <p:spPr>
          <a:xfrm>
            <a:off x="622936" y="592139"/>
            <a:ext cx="8063865" cy="1954845"/>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D1CA3F60-FA4B-9C56-CF35-AC79394FAB3C}"/>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687F8B5A-8C45-6228-2541-5D9206EC0FB1}"/>
              </a:ext>
            </a:extLst>
          </p:cNvPr>
          <p:cNvSpPr txBox="1">
            <a:spLocks/>
          </p:cNvSpPr>
          <p:nvPr/>
        </p:nvSpPr>
        <p:spPr>
          <a:xfrm>
            <a:off x="868680" y="899847"/>
            <a:ext cx="7372350" cy="290849"/>
          </a:xfrm>
          <a:prstGeom prst="rect">
            <a:avLst/>
          </a:prstGeom>
          <a:noFill/>
        </p:spPr>
        <p:txBody>
          <a:bodyPr vert="horz" wrap="square" lIns="0" tIns="0" rIns="0" bIns="0" rtlCol="0" anchor="t">
            <a:noAutofit/>
          </a:bodyPr>
          <a:lstStyle/>
          <a:p>
            <a:r>
              <a:rPr lang="en-US" sz="1890" b="1">
                <a:solidFill>
                  <a:srgbClr val="102A43"/>
                </a:solidFill>
                <a:latin typeface="Aptos" panose="020B0004020202020204" pitchFamily="34" charset="0"/>
              </a:rPr>
              <a:t>Ask questions against governed definitions</a:t>
            </a:r>
            <a:endParaRPr lang="en-IN" sz="1890" b="1">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7B24A957-DD62-F42C-8190-9E4C0230A3DD}"/>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6" name="TextBox 5">
            <a:extLst>
              <a:ext uri="{FF2B5EF4-FFF2-40B4-BE49-F238E27FC236}">
                <a16:creationId xmlns:a16="http://schemas.microsoft.com/office/drawing/2014/main" id="{80B0A95E-67FB-5E71-E1C3-AA02139E1186}"/>
              </a:ext>
            </a:extLst>
          </p:cNvPr>
          <p:cNvSpPr txBox="1">
            <a:spLocks/>
          </p:cNvSpPr>
          <p:nvPr/>
        </p:nvSpPr>
        <p:spPr>
          <a:xfrm>
            <a:off x="868680" y="4821555"/>
            <a:ext cx="6515100" cy="83100"/>
          </a:xfrm>
          <a:prstGeom prst="rect">
            <a:avLst/>
          </a:prstGeom>
          <a:noFill/>
        </p:spPr>
        <p:txBody>
          <a:bodyPr vert="horz" wrap="square" lIns="0" tIns="0" rIns="0" bIns="0" rtlCol="0" anchor="t">
            <a:noAutofit/>
          </a:bodyPr>
          <a:lstStyle/>
          <a:p>
            <a:r>
              <a:rPr lang="en-IN" sz="540">
                <a:solidFill>
                  <a:srgbClr val="64748B"/>
                </a:solidFill>
                <a:latin typeface="Aptos" panose="020B0004020202020204" pitchFamily="34" charset="0"/>
              </a:rPr>
              <a:t>SYNTHETIC HACKATHON DEMO  |  FICTIONAL AML SCENARIO</a:t>
            </a:r>
          </a:p>
        </p:txBody>
      </p:sp>
      <p:pic>
        <p:nvPicPr>
          <p:cNvPr id="9" name="Picture 8">
            <a:extLst>
              <a:ext uri="{FF2B5EF4-FFF2-40B4-BE49-F238E27FC236}">
                <a16:creationId xmlns:a16="http://schemas.microsoft.com/office/drawing/2014/main" id="{FD450A06-3CAE-BBBA-B498-ABB638B2D54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05827" y="1833633"/>
            <a:ext cx="4757738" cy="2402319"/>
          </a:xfrm>
          <a:prstGeom prst="rect">
            <a:avLst/>
          </a:prstGeom>
        </p:spPr>
      </p:pic>
      <p:sp>
        <p:nvSpPr>
          <p:cNvPr id="10" name="TextBox 9">
            <a:extLst>
              <a:ext uri="{FF2B5EF4-FFF2-40B4-BE49-F238E27FC236}">
                <a16:creationId xmlns:a16="http://schemas.microsoft.com/office/drawing/2014/main" id="{5FFAE6CA-E745-38C3-1619-E2B30572A414}"/>
              </a:ext>
            </a:extLst>
          </p:cNvPr>
          <p:cNvSpPr txBox="1">
            <a:spLocks/>
          </p:cNvSpPr>
          <p:nvPr/>
        </p:nvSpPr>
        <p:spPr>
          <a:xfrm>
            <a:off x="5892165" y="1529715"/>
            <a:ext cx="2400300" cy="114327"/>
          </a:xfrm>
          <a:prstGeom prst="rect">
            <a:avLst/>
          </a:prstGeom>
          <a:noFill/>
        </p:spPr>
        <p:txBody>
          <a:bodyPr vert="horz" wrap="square" lIns="0" tIns="0" rIns="0" bIns="0" rtlCol="0" anchor="t">
            <a:noAutofit/>
          </a:bodyPr>
          <a:lstStyle/>
          <a:p>
            <a:r>
              <a:rPr lang="en-IN" sz="743" b="1" dirty="0">
                <a:solidFill>
                  <a:srgbClr val="002060"/>
                </a:solidFill>
                <a:latin typeface="Aptos" panose="020B0004020202020204" pitchFamily="34" charset="0"/>
              </a:rPr>
              <a:t>PLAIN</a:t>
            </a:r>
            <a:r>
              <a:rPr lang="en-IN" sz="743" b="1" dirty="0">
                <a:solidFill>
                  <a:srgbClr val="087E9A"/>
                </a:solidFill>
                <a:latin typeface="Aptos" panose="020B0004020202020204" pitchFamily="34" charset="0"/>
              </a:rPr>
              <a:t> </a:t>
            </a:r>
            <a:r>
              <a:rPr lang="en-IN" sz="743" b="1" dirty="0">
                <a:solidFill>
                  <a:srgbClr val="002060"/>
                </a:solidFill>
                <a:latin typeface="Aptos" panose="020B0004020202020204" pitchFamily="34" charset="0"/>
              </a:rPr>
              <a:t>LANGUAGE</a:t>
            </a:r>
          </a:p>
        </p:txBody>
      </p:sp>
      <p:sp>
        <p:nvSpPr>
          <p:cNvPr id="11" name="TextBox 10">
            <a:extLst>
              <a:ext uri="{FF2B5EF4-FFF2-40B4-BE49-F238E27FC236}">
                <a16:creationId xmlns:a16="http://schemas.microsoft.com/office/drawing/2014/main" id="{85A0835F-8C3B-9E1F-B82A-9C49799293DD}"/>
              </a:ext>
            </a:extLst>
          </p:cNvPr>
          <p:cNvSpPr txBox="1">
            <a:spLocks/>
          </p:cNvSpPr>
          <p:nvPr/>
        </p:nvSpPr>
        <p:spPr>
          <a:xfrm>
            <a:off x="5892165" y="1872616"/>
            <a:ext cx="2400300" cy="290849"/>
          </a:xfrm>
          <a:prstGeom prst="rect">
            <a:avLst/>
          </a:prstGeom>
          <a:noFill/>
        </p:spPr>
        <p:txBody>
          <a:bodyPr vert="horz" wrap="square" lIns="0" tIns="0" rIns="0" bIns="0" rtlCol="0" anchor="t">
            <a:noAutofit/>
          </a:bodyPr>
          <a:lstStyle/>
          <a:p>
            <a:r>
              <a:rPr lang="en-US" sz="945" b="1">
                <a:solidFill>
                  <a:srgbClr val="102A43"/>
                </a:solidFill>
                <a:latin typeface="Aptos" panose="020B0004020202020204" pitchFamily="34" charset="0"/>
              </a:rPr>
              <a:t>Ask about transactions, backtests, or approvals.</a:t>
            </a:r>
            <a:endParaRPr lang="en-IN" sz="945" b="1">
              <a:solidFill>
                <a:srgbClr val="102A43"/>
              </a:solidFill>
              <a:latin typeface="Aptos" panose="020B0004020202020204" pitchFamily="34" charset="0"/>
            </a:endParaRPr>
          </a:p>
        </p:txBody>
      </p:sp>
      <p:sp>
        <p:nvSpPr>
          <p:cNvPr id="12" name="TextBox 11">
            <a:extLst>
              <a:ext uri="{FF2B5EF4-FFF2-40B4-BE49-F238E27FC236}">
                <a16:creationId xmlns:a16="http://schemas.microsoft.com/office/drawing/2014/main" id="{87358064-01D7-3398-F7FC-C57D94C5BD42}"/>
              </a:ext>
            </a:extLst>
          </p:cNvPr>
          <p:cNvSpPr txBox="1">
            <a:spLocks/>
          </p:cNvSpPr>
          <p:nvPr/>
        </p:nvSpPr>
        <p:spPr>
          <a:xfrm>
            <a:off x="5892165" y="2652713"/>
            <a:ext cx="2400300" cy="404919"/>
          </a:xfrm>
          <a:prstGeom prst="rect">
            <a:avLst/>
          </a:prstGeom>
          <a:noFill/>
        </p:spPr>
        <p:txBody>
          <a:bodyPr vert="horz" wrap="square" lIns="0" tIns="0" rIns="0" bIns="0" rtlCol="0" anchor="t">
            <a:noAutofit/>
          </a:bodyPr>
          <a:lstStyle/>
          <a:p>
            <a:r>
              <a:rPr lang="en-US" sz="877">
                <a:solidFill>
                  <a:srgbClr val="425466"/>
                </a:solidFill>
                <a:latin typeface="Aptos" panose="020B0004020202020204" pitchFamily="34" charset="0"/>
              </a:rPr>
              <a:t>Cortex Analyst uses the RegChange Semantic View. The app displays the returned SQL and, when available, query results.</a:t>
            </a:r>
            <a:endParaRPr lang="en-IN" sz="877">
              <a:solidFill>
                <a:srgbClr val="425466"/>
              </a:solidFill>
              <a:latin typeface="Aptos" panose="020B0004020202020204" pitchFamily="34" charset="0"/>
            </a:endParaRPr>
          </a:p>
        </p:txBody>
      </p:sp>
    </p:spTree>
    <p:extLst>
      <p:ext uri="{BB962C8B-B14F-4D97-AF65-F5344CB8AC3E}">
        <p14:creationId xmlns:p14="http://schemas.microsoft.com/office/powerpoint/2010/main" val="2603927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0" name="TransferTemplateBackground" title="Framewsxexexe 233.png">
            <a:extLst>
              <a:ext uri="{FF2B5EF4-FFF2-40B4-BE49-F238E27FC236}">
                <a16:creationId xmlns:a16="http://schemas.microsoft.com/office/drawing/2014/main" id="{9F28D6A4-DB9E-BA87-4380-DFE7F18DAAA3}"/>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8" name="Rectangle 7">
            <a:extLst>
              <a:ext uri="{FF2B5EF4-FFF2-40B4-BE49-F238E27FC236}">
                <a16:creationId xmlns:a16="http://schemas.microsoft.com/office/drawing/2014/main" id="{3BFEC461-8AD3-065A-B4F9-AFBA4EE544F5}"/>
              </a:ext>
            </a:extLst>
          </p:cNvPr>
          <p:cNvSpPr>
            <a:spLocks/>
          </p:cNvSpPr>
          <p:nvPr/>
        </p:nvSpPr>
        <p:spPr>
          <a:xfrm>
            <a:off x="457200" y="482958"/>
            <a:ext cx="8229600" cy="4527192"/>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7330F5C7-F623-9036-9075-015D2FBA3B37}"/>
              </a:ext>
            </a:extLst>
          </p:cNvPr>
          <p:cNvSpPr>
            <a:spLocks/>
          </p:cNvSpPr>
          <p:nvPr/>
        </p:nvSpPr>
        <p:spPr>
          <a:xfrm>
            <a:off x="457200" y="767768"/>
            <a:ext cx="8229600" cy="579068"/>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0634F132-8E6A-26B8-721A-E40B1EEC91F0}"/>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5CD5CCDA-5468-71E8-A5B0-B2D69A95E644}"/>
              </a:ext>
            </a:extLst>
          </p:cNvPr>
          <p:cNvSpPr txBox="1">
            <a:spLocks/>
          </p:cNvSpPr>
          <p:nvPr/>
        </p:nvSpPr>
        <p:spPr>
          <a:xfrm>
            <a:off x="868680" y="844920"/>
            <a:ext cx="7372350" cy="332399"/>
          </a:xfrm>
          <a:prstGeom prst="rect">
            <a:avLst/>
          </a:prstGeom>
          <a:noFill/>
        </p:spPr>
        <p:txBody>
          <a:bodyPr vert="horz" wrap="square" lIns="0" tIns="0" rIns="0" bIns="0" rtlCol="0" anchor="t">
            <a:noAutofit/>
          </a:bodyPr>
          <a:lstStyle/>
          <a:p>
            <a:r>
              <a:rPr lang="en-IN" sz="2160" b="1" dirty="0"/>
              <a:t>Why RegChange RuleTrace Stands Out</a:t>
            </a:r>
            <a:endParaRPr lang="en-IN" sz="2160" b="1" dirty="0">
              <a:solidFill>
                <a:srgbClr val="102A43"/>
              </a:solidFill>
              <a:latin typeface="Aptos" panose="020B0004020202020204" pitchFamily="34" charset="0"/>
            </a:endParaRPr>
          </a:p>
        </p:txBody>
      </p:sp>
      <p:sp>
        <p:nvSpPr>
          <p:cNvPr id="5" name="Rectangle 4">
            <a:extLst>
              <a:ext uri="{FF2B5EF4-FFF2-40B4-BE49-F238E27FC236}">
                <a16:creationId xmlns:a16="http://schemas.microsoft.com/office/drawing/2014/main" id="{B3447411-3C70-2DA3-27C7-6316B8BC7DB1}"/>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7" name="TextBox 6">
            <a:extLst>
              <a:ext uri="{FF2B5EF4-FFF2-40B4-BE49-F238E27FC236}">
                <a16:creationId xmlns:a16="http://schemas.microsoft.com/office/drawing/2014/main" id="{70B6DC27-A69A-2B4F-395C-773005A2CE5C}"/>
              </a:ext>
            </a:extLst>
          </p:cNvPr>
          <p:cNvSpPr txBox="1">
            <a:spLocks/>
          </p:cNvSpPr>
          <p:nvPr/>
        </p:nvSpPr>
        <p:spPr>
          <a:xfrm>
            <a:off x="7915275" y="4804411"/>
            <a:ext cx="342900" cy="93424"/>
          </a:xfrm>
          <a:prstGeom prst="rect">
            <a:avLst/>
          </a:prstGeom>
          <a:noFill/>
        </p:spPr>
        <p:txBody>
          <a:bodyPr vert="horz" wrap="square" lIns="0" tIns="0" rIns="0" bIns="0" rtlCol="0" anchor="t">
            <a:noAutofit/>
          </a:bodyPr>
          <a:lstStyle/>
          <a:p>
            <a:pPr algn="r"/>
            <a:r>
              <a:rPr lang="en-IN" sz="607" b="1">
                <a:solidFill>
                  <a:srgbClr val="087E9A"/>
                </a:solidFill>
                <a:latin typeface="Aptos" panose="020B0004020202020204" pitchFamily="34" charset="0"/>
              </a:rPr>
              <a:t>09</a:t>
            </a:r>
          </a:p>
        </p:txBody>
      </p:sp>
      <p:sp>
        <p:nvSpPr>
          <p:cNvPr id="9" name="Rectangle 8">
            <a:extLst>
              <a:ext uri="{FF2B5EF4-FFF2-40B4-BE49-F238E27FC236}">
                <a16:creationId xmlns:a16="http://schemas.microsoft.com/office/drawing/2014/main" id="{C4B93050-7B90-D972-F3F5-A2BE2F41EC51}"/>
              </a:ext>
            </a:extLst>
          </p:cNvPr>
          <p:cNvSpPr>
            <a:spLocks/>
          </p:cNvSpPr>
          <p:nvPr/>
        </p:nvSpPr>
        <p:spPr>
          <a:xfrm>
            <a:off x="818754" y="1512570"/>
            <a:ext cx="42863" cy="1028700"/>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2" name="Rectangle: Rounded Corners 21">
            <a:extLst>
              <a:ext uri="{FF2B5EF4-FFF2-40B4-BE49-F238E27FC236}">
                <a16:creationId xmlns:a16="http://schemas.microsoft.com/office/drawing/2014/main" id="{1DCCF886-188E-BDAC-DB5B-813792E71B12}"/>
              </a:ext>
            </a:extLst>
          </p:cNvPr>
          <p:cNvSpPr>
            <a:spLocks/>
          </p:cNvSpPr>
          <p:nvPr/>
        </p:nvSpPr>
        <p:spPr>
          <a:xfrm>
            <a:off x="1005841" y="1641868"/>
            <a:ext cx="1600200" cy="823098"/>
          </a:xfrm>
          <a:prstGeom prst="roundRect">
            <a:avLst/>
          </a:prstGeom>
        </p:spPr>
        <p:style>
          <a:lnRef idx="2">
            <a:schemeClr val="accent5"/>
          </a:lnRef>
          <a:fillRef idx="1">
            <a:schemeClr val="lt1"/>
          </a:fillRef>
          <a:effectRef idx="0">
            <a:schemeClr val="accent5"/>
          </a:effectRef>
          <a:fontRef idx="minor">
            <a:schemeClr val="dk1"/>
          </a:fontRef>
        </p:style>
        <p:txBody>
          <a:bodyPr lIns="82296" tIns="41148" rIns="82296" bIns="41148" rtlCol="0" anchor="ctr">
            <a:noAutofit/>
          </a:bodyPr>
          <a:lstStyle/>
          <a:p>
            <a:pPr algn="ctr"/>
            <a:r>
              <a:rPr lang="en-IN" sz="945" dirty="0">
                <a:solidFill>
                  <a:srgbClr val="102A43"/>
                </a:solidFill>
              </a:rPr>
              <a:t>AI-POWERED Cortex reads the circular and generates executive summaries</a:t>
            </a:r>
            <a:endParaRPr lang="en-IN" sz="851" dirty="0">
              <a:solidFill>
                <a:srgbClr val="102A43"/>
              </a:solidFill>
              <a:latin typeface="Aptos" panose="020B0004020202020204" pitchFamily="34" charset="0"/>
            </a:endParaRPr>
          </a:p>
          <a:p>
            <a:pPr algn="ctr"/>
            <a:endParaRPr lang="en-IN" sz="1050" dirty="0"/>
          </a:p>
        </p:txBody>
      </p:sp>
      <p:sp>
        <p:nvSpPr>
          <p:cNvPr id="24" name="Rectangle: Rounded Corners 23">
            <a:extLst>
              <a:ext uri="{FF2B5EF4-FFF2-40B4-BE49-F238E27FC236}">
                <a16:creationId xmlns:a16="http://schemas.microsoft.com/office/drawing/2014/main" id="{58DC2F95-06C4-BA13-885A-80F463D3B5AC}"/>
              </a:ext>
            </a:extLst>
          </p:cNvPr>
          <p:cNvSpPr>
            <a:spLocks/>
          </p:cNvSpPr>
          <p:nvPr/>
        </p:nvSpPr>
        <p:spPr>
          <a:xfrm>
            <a:off x="2856072" y="1640882"/>
            <a:ext cx="1525905" cy="823098"/>
          </a:xfrm>
          <a:prstGeom prst="roundRect">
            <a:avLst/>
          </a:prstGeom>
        </p:spPr>
        <p:style>
          <a:lnRef idx="2">
            <a:schemeClr val="accent5"/>
          </a:lnRef>
          <a:fillRef idx="1">
            <a:schemeClr val="lt1"/>
          </a:fillRef>
          <a:effectRef idx="0">
            <a:schemeClr val="accent5"/>
          </a:effectRef>
          <a:fontRef idx="minor">
            <a:schemeClr val="dk1"/>
          </a:fontRef>
        </p:style>
        <p:txBody>
          <a:bodyPr lIns="82296" tIns="41148" rIns="82296" bIns="41148" rtlCol="0" anchor="ctr">
            <a:noAutofit/>
          </a:bodyPr>
          <a:lstStyle/>
          <a:p>
            <a:pPr algn="ctr"/>
            <a:r>
              <a:rPr lang="en-IN" sz="945" dirty="0"/>
              <a:t>RISK-AWARE Quantifies exact alert and customer impact BEFORE a rule change takes effect</a:t>
            </a:r>
          </a:p>
        </p:txBody>
      </p:sp>
      <p:sp>
        <p:nvSpPr>
          <p:cNvPr id="30" name="Rectangle: Rounded Corners 29">
            <a:extLst>
              <a:ext uri="{FF2B5EF4-FFF2-40B4-BE49-F238E27FC236}">
                <a16:creationId xmlns:a16="http://schemas.microsoft.com/office/drawing/2014/main" id="{3FF8F118-0094-44A8-A6D0-3DC777037B47}"/>
              </a:ext>
            </a:extLst>
          </p:cNvPr>
          <p:cNvSpPr>
            <a:spLocks/>
          </p:cNvSpPr>
          <p:nvPr/>
        </p:nvSpPr>
        <p:spPr>
          <a:xfrm>
            <a:off x="4708446" y="1640882"/>
            <a:ext cx="1525905" cy="823098"/>
          </a:xfrm>
          <a:prstGeom prst="roundRect">
            <a:avLst/>
          </a:prstGeom>
        </p:spPr>
        <p:style>
          <a:lnRef idx="2">
            <a:schemeClr val="accent5"/>
          </a:lnRef>
          <a:fillRef idx="1">
            <a:schemeClr val="lt1"/>
          </a:fillRef>
          <a:effectRef idx="0">
            <a:schemeClr val="accent5"/>
          </a:effectRef>
          <a:fontRef idx="minor">
            <a:schemeClr val="dk1"/>
          </a:fontRef>
        </p:style>
        <p:txBody>
          <a:bodyPr lIns="82296" tIns="41148" rIns="82296" bIns="41148" rtlCol="0" anchor="ctr">
            <a:noAutofit/>
          </a:bodyPr>
          <a:lstStyle/>
          <a:p>
            <a:pPr algn="ctr"/>
            <a:r>
              <a:rPr lang="en-IN" sz="898" dirty="0"/>
              <a:t> GOVERNED Semantic Views define metrics once. Human approval required. Every decision logged for audit</a:t>
            </a:r>
          </a:p>
        </p:txBody>
      </p:sp>
      <p:sp>
        <p:nvSpPr>
          <p:cNvPr id="32" name="Rectangle: Rounded Corners 31">
            <a:extLst>
              <a:ext uri="{FF2B5EF4-FFF2-40B4-BE49-F238E27FC236}">
                <a16:creationId xmlns:a16="http://schemas.microsoft.com/office/drawing/2014/main" id="{199C9A89-FBA7-324B-A89D-F2530A835A08}"/>
              </a:ext>
            </a:extLst>
          </p:cNvPr>
          <p:cNvSpPr>
            <a:spLocks/>
          </p:cNvSpPr>
          <p:nvPr/>
        </p:nvSpPr>
        <p:spPr>
          <a:xfrm>
            <a:off x="6560821" y="1640882"/>
            <a:ext cx="1525905" cy="823098"/>
          </a:xfrm>
          <a:prstGeom prst="roundRect">
            <a:avLst/>
          </a:prstGeom>
        </p:spPr>
        <p:style>
          <a:lnRef idx="2">
            <a:schemeClr val="accent5"/>
          </a:lnRef>
          <a:fillRef idx="1">
            <a:schemeClr val="lt1"/>
          </a:fillRef>
          <a:effectRef idx="0">
            <a:schemeClr val="accent5"/>
          </a:effectRef>
          <a:fontRef idx="minor">
            <a:schemeClr val="dk1"/>
          </a:fontRef>
        </p:style>
        <p:txBody>
          <a:bodyPr lIns="82296" tIns="41148" rIns="82296" bIns="41148" rtlCol="0" anchor="ctr">
            <a:noAutofit/>
          </a:bodyPr>
          <a:lstStyle/>
          <a:p>
            <a:pPr algn="ctr"/>
            <a:r>
              <a:rPr lang="en-IN" sz="945"/>
              <a:t> SNOWFLAKE-NATIVE Zero external dependencies</a:t>
            </a:r>
          </a:p>
        </p:txBody>
      </p:sp>
      <p:sp>
        <p:nvSpPr>
          <p:cNvPr id="34" name="Rectangle 33">
            <a:extLst>
              <a:ext uri="{FF2B5EF4-FFF2-40B4-BE49-F238E27FC236}">
                <a16:creationId xmlns:a16="http://schemas.microsoft.com/office/drawing/2014/main" id="{04CF22CE-CCDC-7B06-73E8-0688D71BE5F4}"/>
              </a:ext>
            </a:extLst>
          </p:cNvPr>
          <p:cNvSpPr>
            <a:spLocks/>
          </p:cNvSpPr>
          <p:nvPr/>
        </p:nvSpPr>
        <p:spPr>
          <a:xfrm>
            <a:off x="8236745" y="1512570"/>
            <a:ext cx="42863" cy="1028700"/>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6" name="Rectangle: Rounded Corners 35">
            <a:extLst>
              <a:ext uri="{FF2B5EF4-FFF2-40B4-BE49-F238E27FC236}">
                <a16:creationId xmlns:a16="http://schemas.microsoft.com/office/drawing/2014/main" id="{1E0DB915-13A9-41E0-9623-0DAB23DEACCF}"/>
              </a:ext>
            </a:extLst>
          </p:cNvPr>
          <p:cNvSpPr>
            <a:spLocks/>
          </p:cNvSpPr>
          <p:nvPr/>
        </p:nvSpPr>
        <p:spPr>
          <a:xfrm>
            <a:off x="1057276" y="3015615"/>
            <a:ext cx="7029450" cy="957263"/>
          </a:xfrm>
          <a:prstGeom prst="roundRect">
            <a:avLst/>
          </a:prstGeom>
        </p:spPr>
        <p:style>
          <a:lnRef idx="1">
            <a:schemeClr val="accent5"/>
          </a:lnRef>
          <a:fillRef idx="2">
            <a:schemeClr val="accent5"/>
          </a:fillRef>
          <a:effectRef idx="1">
            <a:schemeClr val="accent5"/>
          </a:effectRef>
          <a:fontRef idx="minor">
            <a:schemeClr val="dk1"/>
          </a:fontRef>
        </p:style>
        <p:txBody>
          <a:bodyPr lIns="82296" tIns="41148" rIns="82296" bIns="41148" rtlCol="0" anchor="ctr">
            <a:noAutofit/>
          </a:bodyPr>
          <a:lstStyle/>
          <a:p>
            <a:pPr algn="ctr"/>
            <a:r>
              <a:rPr lang="en-IN" sz="945" dirty="0">
                <a:solidFill>
                  <a:srgbClr val="102A43"/>
                </a:solidFill>
              </a:rPr>
              <a:t>✅ Cortex COMPLETE (llama3.1-8b) ✅ Cortex Analyst REST API ✅ Semantic View (10 metrics, 13 dimensions) ✅ Streamlit in Snowflake (container runtime) ✅ SQL Stored Procedures </a:t>
            </a:r>
          </a:p>
          <a:p>
            <a:pPr algn="ctr"/>
            <a:r>
              <a:rPr lang="en-IN" sz="945" dirty="0">
                <a:solidFill>
                  <a:srgbClr val="102A43"/>
                </a:solidFill>
              </a:rPr>
              <a:t>✅ CoCo CLI (development workflow)</a:t>
            </a:r>
            <a:endParaRPr lang="en-IN" sz="851" b="1" dirty="0">
              <a:solidFill>
                <a:srgbClr val="102A43"/>
              </a:solidFill>
            </a:endParaRPr>
          </a:p>
          <a:p>
            <a:pPr algn="ctr"/>
            <a:endParaRPr lang="en-IN" sz="1050" dirty="0"/>
          </a:p>
        </p:txBody>
      </p:sp>
    </p:spTree>
    <p:extLst>
      <p:ext uri="{BB962C8B-B14F-4D97-AF65-F5344CB8AC3E}">
        <p14:creationId xmlns:p14="http://schemas.microsoft.com/office/powerpoint/2010/main" val="3081396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8" name="TransferTemplateBackground" title="Framewsxexexe 233.png">
            <a:extLst>
              <a:ext uri="{FF2B5EF4-FFF2-40B4-BE49-F238E27FC236}">
                <a16:creationId xmlns:a16="http://schemas.microsoft.com/office/drawing/2014/main" id="{5FAD8FB2-99CB-C369-D3D9-373CA785B1C9}"/>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4" name="Rectangle 3">
            <a:extLst>
              <a:ext uri="{FF2B5EF4-FFF2-40B4-BE49-F238E27FC236}">
                <a16:creationId xmlns:a16="http://schemas.microsoft.com/office/drawing/2014/main" id="{60EA92E8-8B65-8E6B-A968-1141B1486B19}"/>
              </a:ext>
            </a:extLst>
          </p:cNvPr>
          <p:cNvSpPr>
            <a:spLocks/>
          </p:cNvSpPr>
          <p:nvPr/>
        </p:nvSpPr>
        <p:spPr>
          <a:xfrm>
            <a:off x="500110" y="621031"/>
            <a:ext cx="8169473" cy="4343776"/>
          </a:xfrm>
          <a:prstGeom prst="rect">
            <a:avLst/>
          </a:prstGeom>
          <a:solidFill>
            <a:srgbClr val="F4F7FA"/>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CEA2E8BF-048C-6659-7EDA-E653381C3744}"/>
              </a:ext>
            </a:extLst>
          </p:cNvPr>
          <p:cNvSpPr>
            <a:spLocks/>
          </p:cNvSpPr>
          <p:nvPr/>
        </p:nvSpPr>
        <p:spPr>
          <a:xfrm>
            <a:off x="500110" y="485178"/>
            <a:ext cx="8169473" cy="1789438"/>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highlight>
                <a:srgbClr val="FFFF00"/>
              </a:highlight>
            </a:endParaRPr>
          </a:p>
        </p:txBody>
      </p:sp>
      <p:sp>
        <p:nvSpPr>
          <p:cNvPr id="3" name="TextBox 2">
            <a:extLst>
              <a:ext uri="{FF2B5EF4-FFF2-40B4-BE49-F238E27FC236}">
                <a16:creationId xmlns:a16="http://schemas.microsoft.com/office/drawing/2014/main" id="{44EB75EF-66A8-52DA-3B45-0EDC7EB666D2}"/>
              </a:ext>
            </a:extLst>
          </p:cNvPr>
          <p:cNvSpPr txBox="1">
            <a:spLocks/>
          </p:cNvSpPr>
          <p:nvPr/>
        </p:nvSpPr>
        <p:spPr>
          <a:xfrm>
            <a:off x="868680" y="621030"/>
            <a:ext cx="6858000" cy="103875"/>
          </a:xfrm>
          <a:prstGeom prst="rect">
            <a:avLst/>
          </a:prstGeom>
          <a:noFill/>
        </p:spPr>
        <p:txBody>
          <a:bodyPr vert="horz" wrap="square" lIns="0" tIns="0" rIns="0" bIns="0" rtlCol="0" anchor="t">
            <a:noAutofit/>
          </a:bodyPr>
          <a:lstStyle/>
          <a:p>
            <a:r>
              <a:rPr lang="en-IN" sz="675" b="1" dirty="0">
                <a:solidFill>
                  <a:srgbClr val="087E9A"/>
                </a:solidFill>
                <a:latin typeface="Aptos" panose="020B0004020202020204" pitchFamily="34" charset="0"/>
              </a:rPr>
              <a:t>REGCHANGE RULETRACE</a:t>
            </a:r>
          </a:p>
        </p:txBody>
      </p:sp>
      <p:sp>
        <p:nvSpPr>
          <p:cNvPr id="5" name="Rectangle 4">
            <a:extLst>
              <a:ext uri="{FF2B5EF4-FFF2-40B4-BE49-F238E27FC236}">
                <a16:creationId xmlns:a16="http://schemas.microsoft.com/office/drawing/2014/main" id="{91D1C277-0928-DA13-1C85-32AA9D6AE478}"/>
              </a:ext>
            </a:extLst>
          </p:cNvPr>
          <p:cNvSpPr>
            <a:spLocks/>
          </p:cNvSpPr>
          <p:nvPr/>
        </p:nvSpPr>
        <p:spPr>
          <a:xfrm>
            <a:off x="868680" y="4752975"/>
            <a:ext cx="7406640" cy="8573"/>
          </a:xfrm>
          <a:prstGeom prst="rect">
            <a:avLst/>
          </a:prstGeom>
          <a:solidFill>
            <a:srgbClr val="D7E1EA"/>
          </a:solidFill>
          <a:ln w="10160">
            <a:solidFill>
              <a:srgbClr val="D7E1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21" name="Title 20">
            <a:extLst>
              <a:ext uri="{FF2B5EF4-FFF2-40B4-BE49-F238E27FC236}">
                <a16:creationId xmlns:a16="http://schemas.microsoft.com/office/drawing/2014/main" id="{E4B395DF-40B1-6DFC-BB23-C01356C02868}"/>
              </a:ext>
            </a:extLst>
          </p:cNvPr>
          <p:cNvSpPr>
            <a:spLocks noGrp="1"/>
          </p:cNvSpPr>
          <p:nvPr>
            <p:ph type="title"/>
          </p:nvPr>
        </p:nvSpPr>
        <p:spPr>
          <a:xfrm>
            <a:off x="1218544" y="843626"/>
            <a:ext cx="6436161" cy="765810"/>
          </a:xfrm>
        </p:spPr>
        <p:txBody>
          <a:bodyPr lIns="82282" tIns="82282" rIns="82282" bIns="82282">
            <a:noAutofit/>
          </a:bodyPr>
          <a:lstStyle/>
          <a:p>
            <a:r>
              <a:rPr lang="en-IN" sz="1949" dirty="0"/>
              <a:t>Impact, Scope &amp; Future Roadmap</a:t>
            </a:r>
            <a:br>
              <a:rPr lang="en-IN" sz="1949" b="1" dirty="0">
                <a:solidFill>
                  <a:srgbClr val="102A43"/>
                </a:solidFill>
                <a:latin typeface="Aptos" panose="020B0004020202020204" pitchFamily="34" charset="0"/>
              </a:rPr>
            </a:br>
            <a:endParaRPr lang="en-IN" sz="1949" dirty="0"/>
          </a:p>
        </p:txBody>
      </p:sp>
      <p:sp>
        <p:nvSpPr>
          <p:cNvPr id="22" name="Text Placeholder 21">
            <a:extLst>
              <a:ext uri="{FF2B5EF4-FFF2-40B4-BE49-F238E27FC236}">
                <a16:creationId xmlns:a16="http://schemas.microsoft.com/office/drawing/2014/main" id="{4EDA1C87-CA14-3B1B-A93E-55F87A7BCB02}"/>
              </a:ext>
            </a:extLst>
          </p:cNvPr>
          <p:cNvSpPr>
            <a:spLocks noGrp="1"/>
          </p:cNvSpPr>
          <p:nvPr>
            <p:ph type="body" idx="1"/>
          </p:nvPr>
        </p:nvSpPr>
        <p:spPr>
          <a:xfrm>
            <a:off x="1218546" y="1677918"/>
            <a:ext cx="2157907" cy="462915"/>
          </a:xfrm>
        </p:spPr>
        <p:txBody>
          <a:bodyPr lIns="82282" tIns="82282" rIns="82282" bIns="82282">
            <a:noAutofit/>
          </a:bodyPr>
          <a:lstStyle/>
          <a:p>
            <a:r>
              <a:rPr lang="en-IN" sz="1080" b="1" dirty="0">
                <a:latin typeface="Aptos" panose="020B0004020202020204" pitchFamily="34" charset="0"/>
              </a:rPr>
              <a:t>What It Delivers Today &amp; What Comes Next</a:t>
            </a:r>
          </a:p>
        </p:txBody>
      </p:sp>
      <p:sp>
        <p:nvSpPr>
          <p:cNvPr id="25" name="Text Placeholder 24">
            <a:extLst>
              <a:ext uri="{FF2B5EF4-FFF2-40B4-BE49-F238E27FC236}">
                <a16:creationId xmlns:a16="http://schemas.microsoft.com/office/drawing/2014/main" id="{61347223-C7D3-F9AA-4463-CE61BB9B1D87}"/>
              </a:ext>
            </a:extLst>
          </p:cNvPr>
          <p:cNvSpPr>
            <a:spLocks noGrp="1"/>
          </p:cNvSpPr>
          <p:nvPr>
            <p:ph type="body" sz="half" idx="15"/>
          </p:nvPr>
        </p:nvSpPr>
        <p:spPr>
          <a:xfrm>
            <a:off x="1218545" y="2309814"/>
            <a:ext cx="2165896" cy="1980247"/>
          </a:xfrm>
        </p:spPr>
        <p:txBody>
          <a:bodyPr lIns="82282" tIns="82282" rIns="82282" bIns="82282">
            <a:noAutofit/>
          </a:bodyPr>
          <a:lstStyle/>
          <a:p>
            <a:r>
              <a:rPr lang="en-IN" sz="945" dirty="0">
                <a:solidFill>
                  <a:srgbClr val="102A43"/>
                </a:solidFill>
              </a:rPr>
              <a:t>✅ Regulatory response in seconds, not days </a:t>
            </a:r>
          </a:p>
          <a:p>
            <a:r>
              <a:rPr lang="en-IN" sz="945" dirty="0">
                <a:solidFill>
                  <a:srgbClr val="102A43"/>
                </a:solidFill>
              </a:rPr>
              <a:t>✅ Exact alert and customer impact before rule goes live </a:t>
            </a:r>
          </a:p>
          <a:p>
            <a:r>
              <a:rPr lang="en-IN" sz="945" dirty="0">
                <a:solidFill>
                  <a:srgbClr val="102A43"/>
                </a:solidFill>
              </a:rPr>
              <a:t>✅ Full audit trail — who approved, when, why </a:t>
            </a:r>
          </a:p>
          <a:p>
            <a:r>
              <a:rPr lang="en-IN" sz="945" dirty="0">
                <a:solidFill>
                  <a:srgbClr val="102A43"/>
                </a:solidFill>
              </a:rPr>
              <a:t>✅ AI reads the circular so analysts don't have to </a:t>
            </a:r>
          </a:p>
          <a:p>
            <a:r>
              <a:rPr lang="en-IN" sz="945" dirty="0">
                <a:solidFill>
                  <a:srgbClr val="102A43"/>
                </a:solidFill>
              </a:rPr>
              <a:t>✅ Ask questions in plain English, get governed answers</a:t>
            </a:r>
          </a:p>
        </p:txBody>
      </p:sp>
      <p:sp>
        <p:nvSpPr>
          <p:cNvPr id="23" name="Text Placeholder 22">
            <a:extLst>
              <a:ext uri="{FF2B5EF4-FFF2-40B4-BE49-F238E27FC236}">
                <a16:creationId xmlns:a16="http://schemas.microsoft.com/office/drawing/2014/main" id="{36591B80-44FC-C145-C45A-6C30A938C5F8}"/>
              </a:ext>
            </a:extLst>
          </p:cNvPr>
          <p:cNvSpPr>
            <a:spLocks noGrp="1"/>
          </p:cNvSpPr>
          <p:nvPr>
            <p:ph type="body" sz="quarter" idx="3"/>
          </p:nvPr>
        </p:nvSpPr>
        <p:spPr>
          <a:xfrm>
            <a:off x="3480125" y="1681604"/>
            <a:ext cx="2149460" cy="462915"/>
          </a:xfrm>
        </p:spPr>
        <p:txBody>
          <a:bodyPr lIns="82282" tIns="82282" rIns="82282" bIns="82282">
            <a:noAutofit/>
          </a:bodyPr>
          <a:lstStyle/>
          <a:p>
            <a:r>
              <a:rPr lang="en-IN" sz="1215" b="1" dirty="0"/>
              <a:t> </a:t>
            </a:r>
            <a:r>
              <a:rPr lang="en-IN" sz="1215" b="1" dirty="0">
                <a:latin typeface="Aptos" panose="020B0004020202020204" pitchFamily="34" charset="0"/>
              </a:rPr>
              <a:t>What We Built</a:t>
            </a:r>
            <a:endParaRPr lang="en-IN" sz="1215" dirty="0">
              <a:latin typeface="Aptos" panose="020B0004020202020204" pitchFamily="34" charset="0"/>
            </a:endParaRPr>
          </a:p>
        </p:txBody>
      </p:sp>
      <p:sp>
        <p:nvSpPr>
          <p:cNvPr id="26" name="Text Placeholder 25">
            <a:extLst>
              <a:ext uri="{FF2B5EF4-FFF2-40B4-BE49-F238E27FC236}">
                <a16:creationId xmlns:a16="http://schemas.microsoft.com/office/drawing/2014/main" id="{A5912B07-5A38-79EA-FDE3-646F7B24B025}"/>
              </a:ext>
            </a:extLst>
          </p:cNvPr>
          <p:cNvSpPr>
            <a:spLocks noGrp="1"/>
          </p:cNvSpPr>
          <p:nvPr>
            <p:ph type="body" sz="half" idx="16"/>
          </p:nvPr>
        </p:nvSpPr>
        <p:spPr>
          <a:xfrm>
            <a:off x="3506254" y="2274616"/>
            <a:ext cx="2157186" cy="2015798"/>
          </a:xfrm>
        </p:spPr>
        <p:txBody>
          <a:bodyPr lIns="82282" tIns="82282" rIns="82282" bIns="82282">
            <a:noAutofit/>
          </a:bodyPr>
          <a:lstStyle/>
          <a:p>
            <a:pPr marL="214313" indent="-214313">
              <a:buFont typeface="Arial" panose="020B0604020202020204" pitchFamily="34" charset="0"/>
              <a:buChar char="•"/>
            </a:pPr>
            <a:r>
              <a:rPr lang="en-IN" sz="945" dirty="0">
                <a:solidFill>
                  <a:srgbClr val="102A43"/>
                </a:solidFill>
              </a:rPr>
              <a:t>5-tab Streamlit app on Snowflake</a:t>
            </a:r>
          </a:p>
          <a:p>
            <a:pPr marL="214313" indent="-214313">
              <a:buFont typeface="Arial" panose="020B0604020202020204" pitchFamily="34" charset="0"/>
              <a:buChar char="•"/>
            </a:pPr>
            <a:r>
              <a:rPr lang="en-IN" sz="945" dirty="0">
                <a:solidFill>
                  <a:srgbClr val="102A43"/>
                </a:solidFill>
              </a:rPr>
              <a:t>10,000 synthetic INR transactions </a:t>
            </a:r>
          </a:p>
          <a:p>
            <a:pPr marL="214313" indent="-214313">
              <a:buFont typeface="Arial" panose="020B0604020202020204" pitchFamily="34" charset="0"/>
              <a:buChar char="•"/>
            </a:pPr>
            <a:r>
              <a:rPr lang="en-IN" sz="945" dirty="0">
                <a:solidFill>
                  <a:srgbClr val="102A43"/>
                </a:solidFill>
              </a:rPr>
              <a:t>One AML threshold change scenario </a:t>
            </a:r>
          </a:p>
          <a:p>
            <a:pPr marL="214313" indent="-214313">
              <a:buFont typeface="Arial" panose="020B0604020202020204" pitchFamily="34" charset="0"/>
              <a:buChar char="•"/>
            </a:pPr>
            <a:r>
              <a:rPr lang="en-IN" sz="945" dirty="0">
                <a:solidFill>
                  <a:srgbClr val="102A43"/>
                </a:solidFill>
              </a:rPr>
              <a:t>Backtest runs and review log persisted </a:t>
            </a:r>
          </a:p>
          <a:p>
            <a:pPr marL="214313" indent="-214313">
              <a:buFont typeface="Arial" panose="020B0604020202020204" pitchFamily="34" charset="0"/>
              <a:buChar char="•"/>
            </a:pPr>
            <a:r>
              <a:rPr lang="en-IN" sz="945" dirty="0">
                <a:solidFill>
                  <a:srgbClr val="102A43"/>
                </a:solidFill>
              </a:rPr>
              <a:t>Cortex extraction + Cortex Analyst </a:t>
            </a:r>
          </a:p>
          <a:p>
            <a:pPr marL="214313" indent="-214313">
              <a:buFont typeface="Arial" panose="020B0604020202020204" pitchFamily="34" charset="0"/>
              <a:buChar char="•"/>
            </a:pPr>
            <a:r>
              <a:rPr lang="en-IN" sz="945" dirty="0">
                <a:solidFill>
                  <a:srgbClr val="102A43"/>
                </a:solidFill>
              </a:rPr>
              <a:t>All data synthetic — no real customer data</a:t>
            </a:r>
          </a:p>
        </p:txBody>
      </p:sp>
      <p:sp>
        <p:nvSpPr>
          <p:cNvPr id="24" name="Text Placeholder 23">
            <a:extLst>
              <a:ext uri="{FF2B5EF4-FFF2-40B4-BE49-F238E27FC236}">
                <a16:creationId xmlns:a16="http://schemas.microsoft.com/office/drawing/2014/main" id="{BB46C02C-50CB-FFEE-C6A9-0BFB91D4BCD0}"/>
              </a:ext>
            </a:extLst>
          </p:cNvPr>
          <p:cNvSpPr>
            <a:spLocks noGrp="1"/>
          </p:cNvSpPr>
          <p:nvPr>
            <p:ph type="body" sz="quarter" idx="13"/>
          </p:nvPr>
        </p:nvSpPr>
        <p:spPr>
          <a:xfrm>
            <a:off x="5757600" y="1677918"/>
            <a:ext cx="2156603" cy="462915"/>
          </a:xfrm>
        </p:spPr>
        <p:txBody>
          <a:bodyPr lIns="82282" tIns="82282" rIns="82282" bIns="82282">
            <a:noAutofit/>
          </a:bodyPr>
          <a:lstStyle/>
          <a:p>
            <a:r>
              <a:rPr lang="en-IN" sz="1215" b="1" dirty="0"/>
              <a:t>What Comes Next</a:t>
            </a:r>
            <a:endParaRPr lang="en-IN" sz="1215" dirty="0"/>
          </a:p>
        </p:txBody>
      </p:sp>
      <p:sp>
        <p:nvSpPr>
          <p:cNvPr id="27" name="Text Placeholder 26">
            <a:extLst>
              <a:ext uri="{FF2B5EF4-FFF2-40B4-BE49-F238E27FC236}">
                <a16:creationId xmlns:a16="http://schemas.microsoft.com/office/drawing/2014/main" id="{FE93329E-A784-7CA8-8A99-B3A5112C4843}"/>
              </a:ext>
            </a:extLst>
          </p:cNvPr>
          <p:cNvSpPr>
            <a:spLocks noGrp="1"/>
          </p:cNvSpPr>
          <p:nvPr>
            <p:ph type="body" sz="half" idx="17"/>
          </p:nvPr>
        </p:nvSpPr>
        <p:spPr>
          <a:xfrm>
            <a:off x="5757600" y="2260459"/>
            <a:ext cx="2156603" cy="2029601"/>
          </a:xfrm>
        </p:spPr>
        <p:txBody>
          <a:bodyPr lIns="82282" tIns="82282" rIns="82282" bIns="82282">
            <a:noAutofit/>
          </a:bodyPr>
          <a:lstStyle/>
          <a:p>
            <a:r>
              <a:rPr lang="en-IN" sz="945" dirty="0">
                <a:solidFill>
                  <a:srgbClr val="102A43"/>
                </a:solidFill>
              </a:rPr>
              <a:t>→ Dynamic Tables for always-fresh impact views</a:t>
            </a:r>
          </a:p>
          <a:p>
            <a:r>
              <a:rPr lang="en-IN" sz="945" dirty="0">
                <a:solidFill>
                  <a:srgbClr val="102A43"/>
                </a:solidFill>
              </a:rPr>
              <a:t>→ Data Metric Functions for quality gates </a:t>
            </a:r>
          </a:p>
          <a:p>
            <a:r>
              <a:rPr lang="en-IN" sz="945" dirty="0">
                <a:solidFill>
                  <a:srgbClr val="102A43"/>
                </a:solidFill>
              </a:rPr>
              <a:t>→ Zero-Copy Clones for safe rule testing </a:t>
            </a:r>
          </a:p>
          <a:p>
            <a:r>
              <a:rPr lang="en-IN" sz="945" dirty="0">
                <a:solidFill>
                  <a:srgbClr val="102A43"/>
                </a:solidFill>
              </a:rPr>
              <a:t>→ Cortex Search for policy document library</a:t>
            </a:r>
          </a:p>
          <a:p>
            <a:r>
              <a:rPr lang="en-IN" sz="945" dirty="0">
                <a:solidFill>
                  <a:srgbClr val="102A43"/>
                </a:solidFill>
              </a:rPr>
              <a:t>→ Multi-regulator support (RBI, SEBI, IRDAI)</a:t>
            </a:r>
          </a:p>
        </p:txBody>
      </p:sp>
      <p:sp>
        <p:nvSpPr>
          <p:cNvPr id="29" name="Rectangle: Rounded Corners 28">
            <a:extLst>
              <a:ext uri="{FF2B5EF4-FFF2-40B4-BE49-F238E27FC236}">
                <a16:creationId xmlns:a16="http://schemas.microsoft.com/office/drawing/2014/main" id="{3D7D8695-2E66-E540-1763-AC56A66AB646}"/>
              </a:ext>
            </a:extLst>
          </p:cNvPr>
          <p:cNvSpPr>
            <a:spLocks/>
          </p:cNvSpPr>
          <p:nvPr/>
        </p:nvSpPr>
        <p:spPr>
          <a:xfrm>
            <a:off x="1218544" y="4380250"/>
            <a:ext cx="6817995" cy="248248"/>
          </a:xfrm>
          <a:prstGeom prst="roundRect">
            <a:avLst/>
          </a:prstGeom>
        </p:spPr>
        <p:style>
          <a:lnRef idx="1">
            <a:schemeClr val="accent5"/>
          </a:lnRef>
          <a:fillRef idx="3">
            <a:schemeClr val="accent5"/>
          </a:fillRef>
          <a:effectRef idx="2">
            <a:schemeClr val="accent5"/>
          </a:effectRef>
          <a:fontRef idx="minor">
            <a:schemeClr val="lt1"/>
          </a:fontRef>
        </p:style>
        <p:txBody>
          <a:bodyPr lIns="82296" tIns="41148" rIns="82296" bIns="41148" rtlCol="0" anchor="ctr">
            <a:noAutofit/>
          </a:bodyPr>
          <a:lstStyle/>
          <a:p>
            <a:pPr algn="ctr"/>
            <a:r>
              <a:rPr lang="en-IN" sz="945" dirty="0">
                <a:solidFill>
                  <a:srgbClr val="102A43"/>
                </a:solidFill>
              </a:rPr>
              <a:t>All datasets are synthetic and deterministic. No external data sources or APIs used.</a:t>
            </a:r>
          </a:p>
        </p:txBody>
      </p:sp>
    </p:spTree>
    <p:extLst>
      <p:ext uri="{BB962C8B-B14F-4D97-AF65-F5344CB8AC3E}">
        <p14:creationId xmlns:p14="http://schemas.microsoft.com/office/powerpoint/2010/main" val="3458096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noFill/>
        <a:effectLst/>
      </p:bgPr>
    </p:bg>
    <p:spTree>
      <p:nvGrpSpPr>
        <p:cNvPr id="1" name=""/>
        <p:cNvGrpSpPr/>
        <p:nvPr/>
      </p:nvGrpSpPr>
      <p:grpSpPr>
        <a:xfrm>
          <a:off x="0" y="0"/>
          <a:ext cx="0" cy="0"/>
          <a:chOff x="0" y="0"/>
          <a:chExt cx="0" cy="0"/>
        </a:xfrm>
      </p:grpSpPr>
      <p:pic>
        <p:nvPicPr>
          <p:cNvPr id="11" name="TransferTemplateBackground" title="Framewsxexexe 233.png">
            <a:extLst>
              <a:ext uri="{FF2B5EF4-FFF2-40B4-BE49-F238E27FC236}">
                <a16:creationId xmlns:a16="http://schemas.microsoft.com/office/drawing/2014/main" id="{ED4E464D-4003-876C-3058-2C7914E350C4}"/>
              </a:ext>
            </a:extLst>
          </p:cNvPr>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9" name="Rectangle 8">
            <a:extLst>
              <a:ext uri="{FF2B5EF4-FFF2-40B4-BE49-F238E27FC236}">
                <a16:creationId xmlns:a16="http://schemas.microsoft.com/office/drawing/2014/main" id="{B85063CC-391D-7E1D-2E05-7079AC24C08A}"/>
              </a:ext>
            </a:extLst>
          </p:cNvPr>
          <p:cNvSpPr>
            <a:spLocks/>
          </p:cNvSpPr>
          <p:nvPr/>
        </p:nvSpPr>
        <p:spPr>
          <a:xfrm>
            <a:off x="613086" y="659997"/>
            <a:ext cx="8216721" cy="4282226"/>
          </a:xfrm>
          <a:prstGeom prst="rect">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B2961436-E393-597A-80B0-F89F4E732D7F}"/>
              </a:ext>
            </a:extLst>
          </p:cNvPr>
          <p:cNvSpPr>
            <a:spLocks/>
          </p:cNvSpPr>
          <p:nvPr/>
        </p:nvSpPr>
        <p:spPr>
          <a:xfrm>
            <a:off x="253175" y="537380"/>
            <a:ext cx="45719" cy="4404843"/>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3" name="TextBox 2">
            <a:extLst>
              <a:ext uri="{FF2B5EF4-FFF2-40B4-BE49-F238E27FC236}">
                <a16:creationId xmlns:a16="http://schemas.microsoft.com/office/drawing/2014/main" id="{F8180CAD-1809-CD48-F205-F1301D25FF48}"/>
              </a:ext>
            </a:extLst>
          </p:cNvPr>
          <p:cNvSpPr txBox="1">
            <a:spLocks/>
          </p:cNvSpPr>
          <p:nvPr/>
        </p:nvSpPr>
        <p:spPr>
          <a:xfrm>
            <a:off x="1005840" y="878205"/>
            <a:ext cx="7029450" cy="114327"/>
          </a:xfrm>
          <a:prstGeom prst="rect">
            <a:avLst/>
          </a:prstGeom>
          <a:noFill/>
        </p:spPr>
        <p:txBody>
          <a:bodyPr vert="horz" wrap="square" lIns="0" tIns="0" rIns="0" bIns="0" rtlCol="0" anchor="t">
            <a:noAutofit/>
          </a:bodyPr>
          <a:lstStyle/>
          <a:p>
            <a:r>
              <a:rPr lang="en-IN" sz="743" b="1" dirty="0">
                <a:solidFill>
                  <a:srgbClr val="102A43"/>
                </a:solidFill>
                <a:latin typeface="Aptos" panose="020B0004020202020204" pitchFamily="34" charset="0"/>
              </a:rPr>
              <a:t>REGCHANGE RULETRACE</a:t>
            </a:r>
          </a:p>
        </p:txBody>
      </p:sp>
      <p:sp>
        <p:nvSpPr>
          <p:cNvPr id="4" name="TextBox 3">
            <a:extLst>
              <a:ext uri="{FF2B5EF4-FFF2-40B4-BE49-F238E27FC236}">
                <a16:creationId xmlns:a16="http://schemas.microsoft.com/office/drawing/2014/main" id="{F6FDCF27-8135-46E6-279A-7811EA529D2E}"/>
              </a:ext>
            </a:extLst>
          </p:cNvPr>
          <p:cNvSpPr txBox="1">
            <a:spLocks/>
          </p:cNvSpPr>
          <p:nvPr/>
        </p:nvSpPr>
        <p:spPr>
          <a:xfrm>
            <a:off x="977265" y="1145881"/>
            <a:ext cx="7029450" cy="498598"/>
          </a:xfrm>
          <a:prstGeom prst="rect">
            <a:avLst/>
          </a:prstGeom>
          <a:noFill/>
        </p:spPr>
        <p:txBody>
          <a:bodyPr vert="horz" wrap="square" lIns="0" tIns="0" rIns="0" bIns="0" rtlCol="0" anchor="t">
            <a:noAutofit/>
          </a:bodyPr>
          <a:lstStyle/>
          <a:p>
            <a:r>
              <a:rPr lang="en-IN" sz="1620" dirty="0">
                <a:solidFill>
                  <a:schemeClr val="tx1">
                    <a:lumMod val="95000"/>
                    <a:lumOff val="5000"/>
                  </a:schemeClr>
                </a:solidFill>
                <a:latin typeface="Aptos Black" panose="020B0004020202020204" pitchFamily="34" charset="0"/>
              </a:rPr>
              <a:t>From Regulatory Circular to Governed Compliance Decision in Under 60 Seconds.</a:t>
            </a:r>
            <a:endParaRPr lang="en-IN" sz="1620" b="1" dirty="0">
              <a:solidFill>
                <a:schemeClr val="tx1">
                  <a:lumMod val="95000"/>
                  <a:lumOff val="5000"/>
                </a:schemeClr>
              </a:solidFill>
              <a:latin typeface="Aptos Black" panose="020B0004020202020204" pitchFamily="34" charset="0"/>
            </a:endParaRPr>
          </a:p>
        </p:txBody>
      </p:sp>
      <p:sp>
        <p:nvSpPr>
          <p:cNvPr id="5" name="TextBox 4">
            <a:extLst>
              <a:ext uri="{FF2B5EF4-FFF2-40B4-BE49-F238E27FC236}">
                <a16:creationId xmlns:a16="http://schemas.microsoft.com/office/drawing/2014/main" id="{6CCE2102-4213-0B91-A4D6-B57F46A677B1}"/>
              </a:ext>
            </a:extLst>
          </p:cNvPr>
          <p:cNvSpPr txBox="1">
            <a:spLocks/>
          </p:cNvSpPr>
          <p:nvPr/>
        </p:nvSpPr>
        <p:spPr>
          <a:xfrm>
            <a:off x="974148" y="1980829"/>
            <a:ext cx="7115175" cy="207749"/>
          </a:xfrm>
          <a:prstGeom prst="rect">
            <a:avLst/>
          </a:prstGeom>
          <a:noFill/>
        </p:spPr>
        <p:txBody>
          <a:bodyPr vert="horz" wrap="square" lIns="0" tIns="0" rIns="0" bIns="0" rtlCol="0" anchor="t">
            <a:noAutofit/>
          </a:bodyPr>
          <a:lstStyle/>
          <a:p>
            <a:r>
              <a:rPr lang="en-IN" sz="1350" dirty="0">
                <a:solidFill>
                  <a:schemeClr val="tx1">
                    <a:lumMod val="95000"/>
                    <a:lumOff val="5000"/>
                  </a:schemeClr>
                </a:solidFill>
                <a:latin typeface="Aptos" panose="020B0004020202020204" pitchFamily="34" charset="0"/>
              </a:rPr>
              <a:t>AI proposes. Deterministic replay quantifies. Humans approve.</a:t>
            </a:r>
          </a:p>
        </p:txBody>
      </p:sp>
      <p:sp>
        <p:nvSpPr>
          <p:cNvPr id="6" name="Rectangle 5">
            <a:extLst>
              <a:ext uri="{FF2B5EF4-FFF2-40B4-BE49-F238E27FC236}">
                <a16:creationId xmlns:a16="http://schemas.microsoft.com/office/drawing/2014/main" id="{DEF9BC04-E5D0-4ADC-581E-01398B08F8D8}"/>
              </a:ext>
            </a:extLst>
          </p:cNvPr>
          <p:cNvSpPr>
            <a:spLocks/>
          </p:cNvSpPr>
          <p:nvPr/>
        </p:nvSpPr>
        <p:spPr>
          <a:xfrm>
            <a:off x="977264" y="2352499"/>
            <a:ext cx="4568580" cy="219251"/>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solidFill>
                <a:schemeClr val="tx2"/>
              </a:solidFill>
              <a:highlight>
                <a:srgbClr val="00FFFF"/>
              </a:highlight>
            </a:endParaRPr>
          </a:p>
        </p:txBody>
      </p:sp>
      <p:sp>
        <p:nvSpPr>
          <p:cNvPr id="7" name="TextBox 6">
            <a:extLst>
              <a:ext uri="{FF2B5EF4-FFF2-40B4-BE49-F238E27FC236}">
                <a16:creationId xmlns:a16="http://schemas.microsoft.com/office/drawing/2014/main" id="{D1EBA3DB-A411-CFD0-07C9-92E0BBD74B0F}"/>
              </a:ext>
            </a:extLst>
          </p:cNvPr>
          <p:cNvSpPr txBox="1">
            <a:spLocks/>
          </p:cNvSpPr>
          <p:nvPr/>
        </p:nvSpPr>
        <p:spPr>
          <a:xfrm>
            <a:off x="2478683" y="3924907"/>
            <a:ext cx="6943725" cy="134973"/>
          </a:xfrm>
          <a:prstGeom prst="rect">
            <a:avLst/>
          </a:prstGeom>
          <a:noFill/>
        </p:spPr>
        <p:txBody>
          <a:bodyPr vert="horz" wrap="square" lIns="0" tIns="0" rIns="0" bIns="0" rtlCol="0" anchor="t">
            <a:noAutofit/>
          </a:bodyPr>
          <a:lstStyle/>
          <a:p>
            <a:r>
              <a:rPr lang="en-IN" sz="877" dirty="0">
                <a:solidFill>
                  <a:schemeClr val="tx1">
                    <a:lumMod val="95000"/>
                    <a:lumOff val="5000"/>
                  </a:schemeClr>
                </a:solidFill>
                <a:latin typeface="Aptos" panose="020B0004020202020204" pitchFamily="34" charset="0"/>
              </a:rPr>
              <a:t>GitHub: github.com/yogeshwagh450/regchange-ruletrace</a:t>
            </a:r>
          </a:p>
        </p:txBody>
      </p:sp>
      <p:sp>
        <p:nvSpPr>
          <p:cNvPr id="8" name="TextBox 7">
            <a:extLst>
              <a:ext uri="{FF2B5EF4-FFF2-40B4-BE49-F238E27FC236}">
                <a16:creationId xmlns:a16="http://schemas.microsoft.com/office/drawing/2014/main" id="{9F9AF01D-50F2-6A43-D9F8-FDBC144FC9EE}"/>
              </a:ext>
            </a:extLst>
          </p:cNvPr>
          <p:cNvSpPr txBox="1">
            <a:spLocks/>
          </p:cNvSpPr>
          <p:nvPr/>
        </p:nvSpPr>
        <p:spPr>
          <a:xfrm>
            <a:off x="977264" y="3924907"/>
            <a:ext cx="6943725" cy="145424"/>
          </a:xfrm>
          <a:prstGeom prst="rect">
            <a:avLst/>
          </a:prstGeom>
          <a:noFill/>
        </p:spPr>
        <p:txBody>
          <a:bodyPr vert="horz" wrap="square" lIns="0" tIns="0" rIns="0" bIns="0" rtlCol="0" anchor="t">
            <a:noAutofit/>
          </a:bodyPr>
          <a:lstStyle/>
          <a:p>
            <a:r>
              <a:rPr lang="en-IN" sz="877" dirty="0">
                <a:solidFill>
                  <a:schemeClr val="tx1"/>
                </a:solidFill>
                <a:latin typeface="Aptos" panose="020B0004020202020204" pitchFamily="34" charset="0"/>
              </a:rPr>
              <a:t>Snowflake app: </a:t>
            </a:r>
            <a:r>
              <a:rPr lang="en-IN" sz="945" dirty="0">
                <a:solidFill>
                  <a:schemeClr val="tx1"/>
                </a:solidFill>
                <a:hlinkClick r:id="rId4">
                  <a:extLst>
                    <a:ext uri="{A12FA001-AC4F-418D-AE19-62706E023703}">
                      <ahyp:hlinkClr xmlns:ahyp="http://schemas.microsoft.com/office/drawing/2018/hyperlinkcolor" val="tx"/>
                    </a:ext>
                  </a:extLst>
                </a:hlinkClick>
              </a:rPr>
              <a:t>Snowflake</a:t>
            </a:r>
            <a:endParaRPr lang="en-IN" sz="945" dirty="0">
              <a:solidFill>
                <a:schemeClr val="tx1"/>
              </a:solidFill>
              <a:latin typeface="Aptos" panose="020B0004020202020204" pitchFamily="34" charset="0"/>
            </a:endParaRPr>
          </a:p>
        </p:txBody>
      </p:sp>
      <p:sp>
        <p:nvSpPr>
          <p:cNvPr id="14" name="Rectangle 13">
            <a:extLst>
              <a:ext uri="{FF2B5EF4-FFF2-40B4-BE49-F238E27FC236}">
                <a16:creationId xmlns:a16="http://schemas.microsoft.com/office/drawing/2014/main" id="{07BE19FE-5483-2BE6-5ECC-93A6BF69DA14}"/>
              </a:ext>
            </a:extLst>
          </p:cNvPr>
          <p:cNvSpPr>
            <a:spLocks/>
          </p:cNvSpPr>
          <p:nvPr/>
        </p:nvSpPr>
        <p:spPr>
          <a:xfrm>
            <a:off x="977264" y="4257442"/>
            <a:ext cx="4568580" cy="219251"/>
          </a:xfrm>
          <a:prstGeom prst="rect">
            <a:avLst/>
          </a:prstGeom>
          <a:solidFill>
            <a:srgbClr val="28B8D8"/>
          </a:solidFill>
          <a:ln w="10160">
            <a:solidFill>
              <a:srgbClr val="28B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dirty="0">
              <a:solidFill>
                <a:schemeClr val="tx2"/>
              </a:solidFill>
              <a:highlight>
                <a:srgbClr val="00FFFF"/>
              </a:highlight>
            </a:endParaRPr>
          </a:p>
        </p:txBody>
      </p:sp>
    </p:spTree>
    <p:extLst>
      <p:ext uri="{BB962C8B-B14F-4D97-AF65-F5344CB8AC3E}">
        <p14:creationId xmlns:p14="http://schemas.microsoft.com/office/powerpoint/2010/main" val="4279692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8" title="timer 1 min cowsswedededexeco cli.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2582</Words>
  <Application>Microsoft Office PowerPoint</Application>
  <PresentationFormat>On-screen Show (16:9)</PresentationFormat>
  <Paragraphs>270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Black</vt:lpstr>
      <vt:lpstr>Arial</vt:lpstr>
      <vt:lpstr>Manrope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Impact, Scope &amp; Future Roadmap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Yogesh Wagh</dc:creator>
  <cp:lastModifiedBy>Yogesh Wagh</cp:lastModifiedBy>
  <cp:revision>6</cp:revision>
  <dcterms:modified xsi:type="dcterms:W3CDTF">2026-10-03T04:29:07Z</dcterms:modified>
</cp:coreProperties>
</file>